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2" r:id="rId3"/>
    <p:sldId id="267" r:id="rId4"/>
    <p:sldId id="257" r:id="rId5"/>
    <p:sldId id="258" r:id="rId6"/>
    <p:sldId id="264" r:id="rId7"/>
    <p:sldId id="260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/>
    <p:restoredTop sz="94694"/>
  </p:normalViewPr>
  <p:slideViewPr>
    <p:cSldViewPr snapToGrid="0">
      <p:cViewPr varScale="1">
        <p:scale>
          <a:sx n="94" d="100"/>
          <a:sy n="94" d="100"/>
        </p:scale>
        <p:origin x="216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8/19/25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212D4-C6B7-7154-37A6-107E793F14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Visualization and Reports with </a:t>
            </a:r>
            <a:r>
              <a:rPr lang="en-US" dirty="0" err="1"/>
              <a:t>Rmarkdown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BB4ABF-A1DE-1DD2-362D-9E847D6E9F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SERC Summer Data Science Series</a:t>
            </a:r>
          </a:p>
        </p:txBody>
      </p:sp>
    </p:spTree>
    <p:extLst>
      <p:ext uri="{BB962C8B-B14F-4D97-AF65-F5344CB8AC3E}">
        <p14:creationId xmlns:p14="http://schemas.microsoft.com/office/powerpoint/2010/main" val="159125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6FC78-8846-05C1-73EE-0F73E23BE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Science is for sharing!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F0005-9EEA-F2F1-9CC9-F29FE2A42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Great tools exist that can help share our science digitally and support:</a:t>
            </a:r>
          </a:p>
          <a:p>
            <a:r>
              <a:rPr lang="en-US" dirty="0"/>
              <a:t>Summarizing findings for short term projects or tracking data produced by long term projects</a:t>
            </a:r>
          </a:p>
          <a:p>
            <a:r>
              <a:rPr lang="en-US" dirty="0"/>
              <a:t>Communicating data to different audiences: yourself, collaborators, stakeholders, funders, the general public</a:t>
            </a:r>
          </a:p>
          <a:p>
            <a:r>
              <a:rPr lang="en-US" dirty="0"/>
              <a:t>Generating reports in a variety of shareable formats</a:t>
            </a:r>
          </a:p>
        </p:txBody>
      </p:sp>
    </p:spTree>
    <p:extLst>
      <p:ext uri="{BB962C8B-B14F-4D97-AF65-F5344CB8AC3E}">
        <p14:creationId xmlns:p14="http://schemas.microsoft.com/office/powerpoint/2010/main" val="801935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49036-8C28-46CA-ED56-7EBFB908F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Rmarkdown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35AC7-4CFB-13AF-DC09-AB9C53B5E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6687853" cy="3989995"/>
          </a:xfrm>
        </p:spPr>
        <p:txBody>
          <a:bodyPr/>
          <a:lstStyle/>
          <a:p>
            <a:r>
              <a:rPr lang="en-US" dirty="0"/>
              <a:t>What it is: An authoring framework for data science. This notebook interface allows for technical publishing (for reports, websites, books, and more!)</a:t>
            </a:r>
          </a:p>
          <a:p>
            <a:r>
              <a:rPr lang="en-US" dirty="0"/>
              <a:t>What does it contain?</a:t>
            </a:r>
          </a:p>
          <a:p>
            <a:pPr lvl="1"/>
            <a:r>
              <a:rPr lang="en-US" dirty="0"/>
              <a:t>YAML header (metadata)</a:t>
            </a:r>
          </a:p>
          <a:p>
            <a:pPr lvl="1"/>
            <a:r>
              <a:rPr lang="en-US" dirty="0"/>
              <a:t>Code Chunks</a:t>
            </a:r>
          </a:p>
          <a:p>
            <a:pPr lvl="1"/>
            <a:r>
              <a:rPr lang="en-US" dirty="0"/>
              <a:t>Text (with some simple text formatting)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3C6667-10F0-B127-3252-74E7A76BAD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317"/>
          <a:stretch/>
        </p:blipFill>
        <p:spPr>
          <a:xfrm>
            <a:off x="7829266" y="1667034"/>
            <a:ext cx="4016991" cy="470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269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140F9-5665-6467-5E85-44607E4FC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Rmarkdown</a:t>
            </a:r>
            <a:r>
              <a:rPr lang="en-US" dirty="0"/>
              <a:t> good for?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AC962-006D-7ED9-2A98-9DCAAC8A2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Reproducible output</a:t>
            </a:r>
          </a:p>
          <a:p>
            <a:r>
              <a:rPr lang="en-US" dirty="0"/>
              <a:t>Capable of automation</a:t>
            </a:r>
          </a:p>
          <a:p>
            <a:r>
              <a:rPr lang="en-US" dirty="0"/>
              <a:t>Documents are both customizable and generalizable</a:t>
            </a:r>
          </a:p>
          <a:p>
            <a:r>
              <a:rPr lang="en-US" dirty="0"/>
              <a:t>Allow for narrative text and code-generated graphics to be woven together</a:t>
            </a:r>
          </a:p>
          <a:p>
            <a:r>
              <a:rPr lang="en-US" dirty="0"/>
              <a:t>Generation of high-quality, elegant reports</a:t>
            </a:r>
          </a:p>
          <a:p>
            <a:r>
              <a:rPr lang="en-US" dirty="0"/>
              <a:t>Supports a variety of shareable static and dynamic output formats: PDFs, HTML, shiny apps, books (</a:t>
            </a:r>
            <a:r>
              <a:rPr lang="en-US" dirty="0" err="1"/>
              <a:t>Bookdown</a:t>
            </a:r>
            <a:r>
              <a:rPr lang="en-US" dirty="0"/>
              <a:t>), websites (GitHub Pages)</a:t>
            </a:r>
          </a:p>
        </p:txBody>
      </p:sp>
    </p:spTree>
    <p:extLst>
      <p:ext uri="{BB962C8B-B14F-4D97-AF65-F5344CB8AC3E}">
        <p14:creationId xmlns:p14="http://schemas.microsoft.com/office/powerpoint/2010/main" val="2968780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E1DDAD8-1D10-4640-A034-BE90015E3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7" name="Rectangle 6">
              <a:extLst>
                <a:ext uri="{FF2B5EF4-FFF2-40B4-BE49-F238E27FC236}">
                  <a16:creationId xmlns:a16="http://schemas.microsoft.com/office/drawing/2014/main" id="{52FE7688-721D-4A97-B007-BDE056094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9E73A810-8571-4A9D-A3CB-336933AB4C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8294E0-409B-0DFD-8CD0-E4B762F3A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2519" y="618518"/>
            <a:ext cx="3084891" cy="1478570"/>
          </a:xfrm>
        </p:spPr>
        <p:txBody>
          <a:bodyPr>
            <a:normAutofit/>
          </a:bodyPr>
          <a:lstStyle/>
          <a:p>
            <a:r>
              <a:rPr lang="en-US" sz="3200"/>
              <a:t>RMArkdown with Palmer Penguins</a:t>
            </a:r>
          </a:p>
        </p:txBody>
      </p:sp>
      <p:pic>
        <p:nvPicPr>
          <p:cNvPr id="12" name="Picture 11" descr="Penguins walking together">
            <a:extLst>
              <a:ext uri="{FF2B5EF4-FFF2-40B4-BE49-F238E27FC236}">
                <a16:creationId xmlns:a16="http://schemas.microsoft.com/office/drawing/2014/main" id="{DC79BD77-4FA6-765A-95D7-36A61934A8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39" r="19343" b="-1"/>
          <a:stretch>
            <a:fillRect/>
          </a:stretch>
        </p:blipFill>
        <p:spPr>
          <a:xfrm>
            <a:off x="-5597" y="10"/>
            <a:ext cx="7558541" cy="685799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D642FB6-2808-4BC5-AE0B-7302C24B7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B0B8F04-D9A7-48E5-A29C-51A66B59D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D6D18883-6BFF-42BB-8088-FCCF83F9C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1D0FEFB3-A009-4D0F-9107-C0B17786F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8E86C7F-B981-4448-8A1A-856F7124F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4C6CFFD9-BA00-4184-8310-5FC955095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A1892DF3-4848-496C-8664-DFD32EE250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D6DB8C30-651E-4D8F-A70C-163FC5842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563DFB81-F969-4F44-BA6C-634795642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8E5DE346-AFCA-40DA-B5E2-93A86EA54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77A34306-2AE8-43D0-9686-E97B3B53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B9CC10F0-FFCD-4CB9-AF4C-22722D20B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2A6B0E38-C962-4491-BFDA-75378B4D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655F640B-8407-487C-8696-F47451478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FAB4F099-4FF6-4410-A5B9-2A5355719C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6FE80B6E-3DA9-4304-9925-12E578C4E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67D1CB75-0CBA-4E13-924C-21F221D7BF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F2CC783B-FA45-4777-A76A-982B285C7C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D68F4DD3-D736-4B78-972E-F5128CFBE7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B14AF103-15B3-4796-A71A-297D37E17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4">
              <a:extLst>
                <a:ext uri="{FF2B5EF4-FFF2-40B4-BE49-F238E27FC236}">
                  <a16:creationId xmlns:a16="http://schemas.microsoft.com/office/drawing/2014/main" id="{B0B240FB-0453-4B6F-9F9B-C2C3305AC5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EBBBDCEE-433E-40F3-B49D-375CB162A8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6">
              <a:extLst>
                <a:ext uri="{FF2B5EF4-FFF2-40B4-BE49-F238E27FC236}">
                  <a16:creationId xmlns:a16="http://schemas.microsoft.com/office/drawing/2014/main" id="{09B123C6-141E-4A37-B5A7-27E7764F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7">
              <a:extLst>
                <a:ext uri="{FF2B5EF4-FFF2-40B4-BE49-F238E27FC236}">
                  <a16:creationId xmlns:a16="http://schemas.microsoft.com/office/drawing/2014/main" id="{1FA1F521-36A1-49FF-84A7-229E8970F7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28">
              <a:extLst>
                <a:ext uri="{FF2B5EF4-FFF2-40B4-BE49-F238E27FC236}">
                  <a16:creationId xmlns:a16="http://schemas.microsoft.com/office/drawing/2014/main" id="{DE512F89-D901-4487-A42C-02345EC5FC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29">
              <a:extLst>
                <a:ext uri="{FF2B5EF4-FFF2-40B4-BE49-F238E27FC236}">
                  <a16:creationId xmlns:a16="http://schemas.microsoft.com/office/drawing/2014/main" id="{ED3ED0E5-3226-4B78-B3EA-C591824B8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0">
              <a:extLst>
                <a:ext uri="{FF2B5EF4-FFF2-40B4-BE49-F238E27FC236}">
                  <a16:creationId xmlns:a16="http://schemas.microsoft.com/office/drawing/2014/main" id="{9CBB1F68-B6DE-4ECF-B20F-328F9811E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A566C551-9523-4D97-A8CF-5C91F436C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2">
              <a:extLst>
                <a:ext uri="{FF2B5EF4-FFF2-40B4-BE49-F238E27FC236}">
                  <a16:creationId xmlns:a16="http://schemas.microsoft.com/office/drawing/2014/main" id="{9E166BA0-9268-4419-9332-2D30C21239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700C031-AA54-4DC7-B8A2-2569B3FA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4">
              <a:extLst>
                <a:ext uri="{FF2B5EF4-FFF2-40B4-BE49-F238E27FC236}">
                  <a16:creationId xmlns:a16="http://schemas.microsoft.com/office/drawing/2014/main" id="{03045EC8-ECC8-473F-8786-DE266F05B1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5">
              <a:extLst>
                <a:ext uri="{FF2B5EF4-FFF2-40B4-BE49-F238E27FC236}">
                  <a16:creationId xmlns:a16="http://schemas.microsoft.com/office/drawing/2014/main" id="{9337EBA2-5088-4A44-8C0B-A6EE78989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6">
              <a:extLst>
                <a:ext uri="{FF2B5EF4-FFF2-40B4-BE49-F238E27FC236}">
                  <a16:creationId xmlns:a16="http://schemas.microsoft.com/office/drawing/2014/main" id="{3486A705-2593-45C9-A13E-8E2FB7C35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7">
              <a:extLst>
                <a:ext uri="{FF2B5EF4-FFF2-40B4-BE49-F238E27FC236}">
                  <a16:creationId xmlns:a16="http://schemas.microsoft.com/office/drawing/2014/main" id="{F357321C-6DEE-4D02-A997-75E47EE0E0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8">
              <a:extLst>
                <a:ext uri="{FF2B5EF4-FFF2-40B4-BE49-F238E27FC236}">
                  <a16:creationId xmlns:a16="http://schemas.microsoft.com/office/drawing/2014/main" id="{D0B8F87F-3530-4BCD-A8E5-C1B83707B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39">
              <a:extLst>
                <a:ext uri="{FF2B5EF4-FFF2-40B4-BE49-F238E27FC236}">
                  <a16:creationId xmlns:a16="http://schemas.microsoft.com/office/drawing/2014/main" id="{5BE86BA3-AB0E-4F70-A552-0D9EB9E98E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0">
              <a:extLst>
                <a:ext uri="{FF2B5EF4-FFF2-40B4-BE49-F238E27FC236}">
                  <a16:creationId xmlns:a16="http://schemas.microsoft.com/office/drawing/2014/main" id="{DF5FE773-B9AE-4A3F-8EDC-165CE579BD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1">
              <a:extLst>
                <a:ext uri="{FF2B5EF4-FFF2-40B4-BE49-F238E27FC236}">
                  <a16:creationId xmlns:a16="http://schemas.microsoft.com/office/drawing/2014/main" id="{4A03D7BE-B358-4F8B-85EA-65E0CBF2D1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2">
              <a:extLst>
                <a:ext uri="{FF2B5EF4-FFF2-40B4-BE49-F238E27FC236}">
                  <a16:creationId xmlns:a16="http://schemas.microsoft.com/office/drawing/2014/main" id="{A6548877-0957-435B-A419-389A278E5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43">
              <a:extLst>
                <a:ext uri="{FF2B5EF4-FFF2-40B4-BE49-F238E27FC236}">
                  <a16:creationId xmlns:a16="http://schemas.microsoft.com/office/drawing/2014/main" id="{B2D5EA95-9E60-468A-8DA1-40F05C9BDA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4">
              <a:extLst>
                <a:ext uri="{FF2B5EF4-FFF2-40B4-BE49-F238E27FC236}">
                  <a16:creationId xmlns:a16="http://schemas.microsoft.com/office/drawing/2014/main" id="{C9B409CE-11E5-40D1-8C9B-86614EAE2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E594AF5-DB50-4227-AC2F-10EE5233C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6">
              <a:extLst>
                <a:ext uri="{FF2B5EF4-FFF2-40B4-BE49-F238E27FC236}">
                  <a16:creationId xmlns:a16="http://schemas.microsoft.com/office/drawing/2014/main" id="{9335DCAF-74A2-4994-B5BF-1C079A40A5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7">
              <a:extLst>
                <a:ext uri="{FF2B5EF4-FFF2-40B4-BE49-F238E27FC236}">
                  <a16:creationId xmlns:a16="http://schemas.microsoft.com/office/drawing/2014/main" id="{1DC8E1A2-0C6B-4BA9-85F4-3645AED5DE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48">
              <a:extLst>
                <a:ext uri="{FF2B5EF4-FFF2-40B4-BE49-F238E27FC236}">
                  <a16:creationId xmlns:a16="http://schemas.microsoft.com/office/drawing/2014/main" id="{28F38DE0-3BEE-441A-8212-E77DA2328A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49">
              <a:extLst>
                <a:ext uri="{FF2B5EF4-FFF2-40B4-BE49-F238E27FC236}">
                  <a16:creationId xmlns:a16="http://schemas.microsoft.com/office/drawing/2014/main" id="{AE81208E-D239-496C-A312-506B0241B3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0">
              <a:extLst>
                <a:ext uri="{FF2B5EF4-FFF2-40B4-BE49-F238E27FC236}">
                  <a16:creationId xmlns:a16="http://schemas.microsoft.com/office/drawing/2014/main" id="{242FE966-DDA4-4668-B8D6-C4B0D4C78E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1">
              <a:extLst>
                <a:ext uri="{FF2B5EF4-FFF2-40B4-BE49-F238E27FC236}">
                  <a16:creationId xmlns:a16="http://schemas.microsoft.com/office/drawing/2014/main" id="{FB0A5F60-550F-4025-9DCE-6F42A7C06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2">
              <a:extLst>
                <a:ext uri="{FF2B5EF4-FFF2-40B4-BE49-F238E27FC236}">
                  <a16:creationId xmlns:a16="http://schemas.microsoft.com/office/drawing/2014/main" id="{D7B61D18-4A61-44C9-A809-40639E8C1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3">
              <a:extLst>
                <a:ext uri="{FF2B5EF4-FFF2-40B4-BE49-F238E27FC236}">
                  <a16:creationId xmlns:a16="http://schemas.microsoft.com/office/drawing/2014/main" id="{CB26E7EB-DC12-4BA7-B5DE-09EF2C1D0A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4">
              <a:extLst>
                <a:ext uri="{FF2B5EF4-FFF2-40B4-BE49-F238E27FC236}">
                  <a16:creationId xmlns:a16="http://schemas.microsoft.com/office/drawing/2014/main" id="{921237B4-9D85-4611-851F-5DBD71544A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5">
              <a:extLst>
                <a:ext uri="{FF2B5EF4-FFF2-40B4-BE49-F238E27FC236}">
                  <a16:creationId xmlns:a16="http://schemas.microsoft.com/office/drawing/2014/main" id="{C91509DE-9FAA-4E84-BCC1-CDDBEA8AC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6">
              <a:extLst>
                <a:ext uri="{FF2B5EF4-FFF2-40B4-BE49-F238E27FC236}">
                  <a16:creationId xmlns:a16="http://schemas.microsoft.com/office/drawing/2014/main" id="{C7029B06-6A09-4E46-BA86-F3C66DBDD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57">
              <a:extLst>
                <a:ext uri="{FF2B5EF4-FFF2-40B4-BE49-F238E27FC236}">
                  <a16:creationId xmlns:a16="http://schemas.microsoft.com/office/drawing/2014/main" id="{FF4ACFBF-D1F2-47B1-B0EB-F08C6508BD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58">
              <a:extLst>
                <a:ext uri="{FF2B5EF4-FFF2-40B4-BE49-F238E27FC236}">
                  <a16:creationId xmlns:a16="http://schemas.microsoft.com/office/drawing/2014/main" id="{A6FD1991-3A0E-4F63-BAD9-A98C29860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1724A-5701-72CE-3A14-D2891ADE7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2519" y="2249487"/>
            <a:ext cx="3084892" cy="3541714"/>
          </a:xfrm>
        </p:spPr>
        <p:txBody>
          <a:bodyPr>
            <a:normAutofit/>
          </a:bodyPr>
          <a:lstStyle/>
          <a:p>
            <a:r>
              <a:rPr lang="en-US" sz="1800" dirty="0"/>
              <a:t>Customizing reports</a:t>
            </a:r>
          </a:p>
          <a:p>
            <a:r>
              <a:rPr lang="en-US" sz="1800" dirty="0"/>
              <a:t>Integrating tables, figures, and text</a:t>
            </a:r>
          </a:p>
          <a:p>
            <a:r>
              <a:rPr lang="en-US" sz="1800" dirty="0"/>
              <a:t>Exploring color palettes</a:t>
            </a:r>
          </a:p>
          <a:p>
            <a:r>
              <a:rPr lang="en-US" sz="1800" dirty="0"/>
              <a:t>Introducing dynamic visualization approaches</a:t>
            </a:r>
          </a:p>
          <a:p>
            <a:r>
              <a:rPr lang="en-US" sz="1800" dirty="0"/>
              <a:t>Generating PDF and HTML outputs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F9A7EF83-68CB-0BFB-4477-58CBE73AA8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9286" y="5050971"/>
            <a:ext cx="14605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394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4FD11-D31F-65E4-4DBC-8936CB7AB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Packages for dynamic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D46E8-D091-918A-F8F1-A5971DABF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7421" y="2249487"/>
            <a:ext cx="6269990" cy="3541714"/>
          </a:xfrm>
        </p:spPr>
        <p:txBody>
          <a:bodyPr/>
          <a:lstStyle/>
          <a:p>
            <a:r>
              <a:rPr lang="en-US" dirty="0"/>
              <a:t>DT: Rendering R objects as HTML tables</a:t>
            </a:r>
          </a:p>
          <a:p>
            <a:r>
              <a:rPr lang="en-US" dirty="0" err="1"/>
              <a:t>Plotly</a:t>
            </a:r>
            <a:r>
              <a:rPr lang="en-US" dirty="0"/>
              <a:t>: Creating interactive web-based data visualization</a:t>
            </a:r>
          </a:p>
          <a:p>
            <a:r>
              <a:rPr lang="en-US" dirty="0" err="1"/>
              <a:t>gganimate</a:t>
            </a:r>
            <a:r>
              <a:rPr lang="en-US" dirty="0"/>
              <a:t>: Produce animated graphics (an extension of ggplot2)</a:t>
            </a:r>
          </a:p>
          <a:p>
            <a:r>
              <a:rPr lang="en-US" dirty="0"/>
              <a:t>Leaflet: Creating interactive web maps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2E2967-ED8F-ABE9-B7AE-53EAB335C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295" y="4274835"/>
            <a:ext cx="1536700" cy="177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D80FC4-FE24-1A0C-B358-7A463544D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260" y="2968095"/>
            <a:ext cx="2921000" cy="1143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5D44FB-2600-88A9-71E1-BD9F737E17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717" y="1694165"/>
            <a:ext cx="2601054" cy="130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77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067B1-5F09-B411-75D8-CBEAE7DD4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Paramaterized</a:t>
            </a:r>
            <a:r>
              <a:rPr lang="en-US" dirty="0"/>
              <a:t> Reporting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CDF48-A92F-8859-39B8-789695131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5412743" cy="3541714"/>
          </a:xfrm>
        </p:spPr>
        <p:txBody>
          <a:bodyPr/>
          <a:lstStyle/>
          <a:p>
            <a:r>
              <a:rPr lang="en-US" dirty="0"/>
              <a:t>Dataset: </a:t>
            </a:r>
            <a:r>
              <a:rPr lang="en-US" dirty="0" err="1"/>
              <a:t>Feederwatch</a:t>
            </a:r>
            <a:endParaRPr lang="en-US" dirty="0"/>
          </a:p>
          <a:p>
            <a:r>
              <a:rPr lang="en-US" dirty="0"/>
              <a:t>Create template with integrated web-based graphics for data visualization</a:t>
            </a:r>
          </a:p>
          <a:p>
            <a:r>
              <a:rPr lang="en-US" dirty="0"/>
              <a:t>Generate reports for each state by </a:t>
            </a:r>
            <a:r>
              <a:rPr lang="en-US" dirty="0" err="1"/>
              <a:t>subsetting</a:t>
            </a:r>
            <a:r>
              <a:rPr lang="en-US" dirty="0"/>
              <a:t> the dataset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13209E-45C8-A656-1597-EE3E6C7DE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44" y="5568950"/>
            <a:ext cx="2692400" cy="749300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B3ED7946-A5FA-16F9-0884-FA68D6629CDF}"/>
              </a:ext>
            </a:extLst>
          </p:cNvPr>
          <p:cNvGrpSpPr/>
          <p:nvPr/>
        </p:nvGrpSpPr>
        <p:grpSpPr>
          <a:xfrm>
            <a:off x="7135181" y="1069484"/>
            <a:ext cx="4315292" cy="4874116"/>
            <a:chOff x="7271658" y="341194"/>
            <a:chExt cx="4315292" cy="4874116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471A3F97-F63D-574C-F1BF-D8E5B5A1F047}"/>
                </a:ext>
              </a:extLst>
            </p:cNvPr>
            <p:cNvSpPr/>
            <p:nvPr/>
          </p:nvSpPr>
          <p:spPr>
            <a:xfrm>
              <a:off x="7271658" y="341194"/>
              <a:ext cx="4315292" cy="4872631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Graphic 5" descr="Document with solid fill">
              <a:extLst>
                <a:ext uri="{FF2B5EF4-FFF2-40B4-BE49-F238E27FC236}">
                  <a16:creationId xmlns:a16="http://schemas.microsoft.com/office/drawing/2014/main" id="{AC3E66A8-4339-79F1-826B-8757C7672D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824132" y="3717688"/>
              <a:ext cx="914400" cy="914400"/>
            </a:xfrm>
            <a:prstGeom prst="rect">
              <a:avLst/>
            </a:prstGeom>
          </p:spPr>
        </p:pic>
        <p:pic>
          <p:nvPicPr>
            <p:cNvPr id="8" name="Graphic 7" descr="Paper with solid fill">
              <a:extLst>
                <a:ext uri="{FF2B5EF4-FFF2-40B4-BE49-F238E27FC236}">
                  <a16:creationId xmlns:a16="http://schemas.microsoft.com/office/drawing/2014/main" id="{A92DED05-76DD-3FCC-DFB1-61C19264814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911767" y="1644175"/>
              <a:ext cx="914400" cy="914400"/>
            </a:xfrm>
            <a:prstGeom prst="rect">
              <a:avLst/>
            </a:prstGeom>
          </p:spPr>
        </p:pic>
        <p:pic>
          <p:nvPicPr>
            <p:cNvPr id="9" name="Graphic 8" descr="Document with solid fill">
              <a:extLst>
                <a:ext uri="{FF2B5EF4-FFF2-40B4-BE49-F238E27FC236}">
                  <a16:creationId xmlns:a16="http://schemas.microsoft.com/office/drawing/2014/main" id="{13AB59D8-A420-78FF-A485-F53A649A15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958866" y="3717688"/>
              <a:ext cx="914400" cy="914400"/>
            </a:xfrm>
            <a:prstGeom prst="rect">
              <a:avLst/>
            </a:prstGeom>
          </p:spPr>
        </p:pic>
        <p:pic>
          <p:nvPicPr>
            <p:cNvPr id="10" name="Graphic 9" descr="Document with solid fill">
              <a:extLst>
                <a:ext uri="{FF2B5EF4-FFF2-40B4-BE49-F238E27FC236}">
                  <a16:creationId xmlns:a16="http://schemas.microsoft.com/office/drawing/2014/main" id="{E6B49618-0154-2A1D-055D-B926C19D5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33011" y="3717688"/>
              <a:ext cx="914400" cy="914400"/>
            </a:xfrm>
            <a:prstGeom prst="rect">
              <a:avLst/>
            </a:prstGeom>
          </p:spPr>
        </p:pic>
        <p:pic>
          <p:nvPicPr>
            <p:cNvPr id="15" name="Graphic 14" descr="Arrow Right with solid fill">
              <a:extLst>
                <a:ext uri="{FF2B5EF4-FFF2-40B4-BE49-F238E27FC236}">
                  <a16:creationId xmlns:a16="http://schemas.microsoft.com/office/drawing/2014/main" id="{75271F8E-B926-91E8-8A92-593FB4A74AE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5400000">
              <a:off x="8770786" y="2742868"/>
              <a:ext cx="1114474" cy="745888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13C8F09-EFC5-C132-EB79-0FB1A95886CA}"/>
                </a:ext>
              </a:extLst>
            </p:cNvPr>
            <p:cNvSpPr txBox="1"/>
            <p:nvPr/>
          </p:nvSpPr>
          <p:spPr>
            <a:xfrm>
              <a:off x="9076660" y="1977691"/>
              <a:ext cx="6415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chemeClr val="bg1"/>
                  </a:solidFill>
                </a:rPr>
                <a:t>Rmd</a:t>
              </a:r>
              <a:r>
                <a:rPr lang="en-US" b="1" dirty="0">
                  <a:solidFill>
                    <a:schemeClr val="bg1"/>
                  </a:solidFill>
                </a:rPr>
                <a:t> </a:t>
              </a:r>
            </a:p>
          </p:txBody>
        </p:sp>
        <p:pic>
          <p:nvPicPr>
            <p:cNvPr id="18" name="Graphic 17" descr="Arrow Right with solid fill">
              <a:extLst>
                <a:ext uri="{FF2B5EF4-FFF2-40B4-BE49-F238E27FC236}">
                  <a16:creationId xmlns:a16="http://schemas.microsoft.com/office/drawing/2014/main" id="{075F57B5-49D7-DF37-B430-59DD0F1FDAF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l="41841"/>
            <a:stretch/>
          </p:blipFill>
          <p:spPr>
            <a:xfrm rot="5400000">
              <a:off x="7872880" y="2976020"/>
              <a:ext cx="648170" cy="745888"/>
            </a:xfrm>
            <a:prstGeom prst="rect">
              <a:avLst/>
            </a:prstGeom>
          </p:spPr>
        </p:pic>
        <p:pic>
          <p:nvPicPr>
            <p:cNvPr id="20" name="Graphic 19" descr="Arrow Right with solid fill">
              <a:extLst>
                <a:ext uri="{FF2B5EF4-FFF2-40B4-BE49-F238E27FC236}">
                  <a16:creationId xmlns:a16="http://schemas.microsoft.com/office/drawing/2014/main" id="{8DA4BBC8-4517-AEDE-EC78-2C9E92A797C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l="41841"/>
            <a:stretch/>
          </p:blipFill>
          <p:spPr>
            <a:xfrm rot="5400000">
              <a:off x="10165980" y="2976020"/>
              <a:ext cx="648170" cy="745888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E9CE79B-017E-2DB8-8342-9E19261E4743}"/>
                </a:ext>
              </a:extLst>
            </p:cNvPr>
            <p:cNvSpPr/>
            <p:nvPr/>
          </p:nvSpPr>
          <p:spPr>
            <a:xfrm>
              <a:off x="8199444" y="3024879"/>
              <a:ext cx="2308879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8E04CAC-998A-F7C5-9809-99A4D9EBF8A0}"/>
                </a:ext>
              </a:extLst>
            </p:cNvPr>
            <p:cNvSpPr txBox="1"/>
            <p:nvPr/>
          </p:nvSpPr>
          <p:spPr>
            <a:xfrm>
              <a:off x="9042698" y="4845978"/>
              <a:ext cx="9754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Reports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9F15358-E0FA-862D-44A6-BA5660532893}"/>
                </a:ext>
              </a:extLst>
            </p:cNvPr>
            <p:cNvSpPr txBox="1"/>
            <p:nvPr/>
          </p:nvSpPr>
          <p:spPr>
            <a:xfrm>
              <a:off x="9963309" y="746196"/>
              <a:ext cx="144077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Input </a:t>
              </a:r>
            </a:p>
            <a:p>
              <a:r>
                <a:rPr lang="en-US" b="1" dirty="0">
                  <a:solidFill>
                    <a:schemeClr val="bg1"/>
                  </a:solidFill>
                </a:rPr>
                <a:t>Parameters</a:t>
              </a:r>
            </a:p>
            <a:p>
              <a:r>
                <a:rPr lang="en-US" dirty="0" err="1">
                  <a:solidFill>
                    <a:schemeClr val="bg1"/>
                  </a:solidFill>
                </a:rPr>
                <a:t>params$state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A27003C-149D-3B88-52C5-1EA7117ABA48}"/>
                </a:ext>
              </a:extLst>
            </p:cNvPr>
            <p:cNvSpPr txBox="1"/>
            <p:nvPr/>
          </p:nvSpPr>
          <p:spPr>
            <a:xfrm>
              <a:off x="7892918" y="4551444"/>
              <a:ext cx="8062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Maine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4CBA127-FF80-BC49-C2BA-C7DECA77F222}"/>
                </a:ext>
              </a:extLst>
            </p:cNvPr>
            <p:cNvSpPr txBox="1"/>
            <p:nvPr/>
          </p:nvSpPr>
          <p:spPr>
            <a:xfrm>
              <a:off x="9028437" y="4551257"/>
              <a:ext cx="9143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Oregon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78BA709-F958-C575-1A02-82F3D60CA69F}"/>
                </a:ext>
              </a:extLst>
            </p:cNvPr>
            <p:cNvSpPr txBox="1"/>
            <p:nvPr/>
          </p:nvSpPr>
          <p:spPr>
            <a:xfrm>
              <a:off x="10228099" y="4551257"/>
              <a:ext cx="9143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Florida</a:t>
              </a:r>
            </a:p>
          </p:txBody>
        </p:sp>
        <p:pic>
          <p:nvPicPr>
            <p:cNvPr id="29" name="Graphic 28" descr="Table with solid fill">
              <a:extLst>
                <a:ext uri="{FF2B5EF4-FFF2-40B4-BE49-F238E27FC236}">
                  <a16:creationId xmlns:a16="http://schemas.microsoft.com/office/drawing/2014/main" id="{64192759-D9E6-8BA4-25EE-E66F510CD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696453" y="911509"/>
              <a:ext cx="914400" cy="914400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47157EB-404A-2F35-736B-9A8B2B7E5BDF}"/>
                </a:ext>
              </a:extLst>
            </p:cNvPr>
            <p:cNvSpPr txBox="1"/>
            <p:nvPr/>
          </p:nvSpPr>
          <p:spPr>
            <a:xfrm>
              <a:off x="7428230" y="637012"/>
              <a:ext cx="11831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Input Data</a:t>
              </a:r>
            </a:p>
          </p:txBody>
        </p:sp>
        <p:pic>
          <p:nvPicPr>
            <p:cNvPr id="33" name="Graphic 32" descr="Line arrow: Clockwise curve with solid fill">
              <a:extLst>
                <a:ext uri="{FF2B5EF4-FFF2-40B4-BE49-F238E27FC236}">
                  <a16:creationId xmlns:a16="http://schemas.microsoft.com/office/drawing/2014/main" id="{460687D8-975F-6EE2-B7B1-69DEE33598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5930982">
              <a:off x="9837074" y="1633773"/>
              <a:ext cx="914400" cy="914400"/>
            </a:xfrm>
            <a:prstGeom prst="rect">
              <a:avLst/>
            </a:prstGeom>
          </p:spPr>
        </p:pic>
        <p:pic>
          <p:nvPicPr>
            <p:cNvPr id="35" name="Graphic 34" descr="Line arrow: Counter-clockwise curve with solid fill">
              <a:extLst>
                <a:ext uri="{FF2B5EF4-FFF2-40B4-BE49-F238E27FC236}">
                  <a16:creationId xmlns:a16="http://schemas.microsoft.com/office/drawing/2014/main" id="{0BC9A46F-99EC-0D56-E75E-4B238C3C5C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7861308">
              <a:off x="8034935" y="1620244"/>
              <a:ext cx="914400" cy="914400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8978700-A604-8CDA-DF8A-95CEC2F3566F}"/>
                </a:ext>
              </a:extLst>
            </p:cNvPr>
            <p:cNvSpPr txBox="1"/>
            <p:nvPr/>
          </p:nvSpPr>
          <p:spPr>
            <a:xfrm>
              <a:off x="8765213" y="1379306"/>
              <a:ext cx="11178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Template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2085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E979501-A34F-2375-23E8-7CDF7556E480}"/>
              </a:ext>
            </a:extLst>
          </p:cNvPr>
          <p:cNvSpPr/>
          <p:nvPr/>
        </p:nvSpPr>
        <p:spPr>
          <a:xfrm>
            <a:off x="9015411" y="459146"/>
            <a:ext cx="2032000" cy="4826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D40D23-E903-B8A2-01A7-E0600B7C2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tools &amp; Hosting Platforms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92A59-B577-63F3-882D-9699E4C3A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988225"/>
            <a:ext cx="9905999" cy="4110370"/>
          </a:xfrm>
        </p:spPr>
        <p:txBody>
          <a:bodyPr>
            <a:normAutofit/>
          </a:bodyPr>
          <a:lstStyle/>
          <a:p>
            <a:r>
              <a:rPr lang="en-US" dirty="0"/>
              <a:t>Quarto (</a:t>
            </a:r>
            <a:r>
              <a:rPr lang="en-US" dirty="0" err="1"/>
              <a:t>Qmd</a:t>
            </a:r>
            <a:r>
              <a:rPr lang="en-US" dirty="0"/>
              <a:t>): A notebook interface for technical publishing of reports, websites, blogs, books, slides, etc. (created to expand the scope of </a:t>
            </a:r>
            <a:r>
              <a:rPr lang="en-US" dirty="0" err="1"/>
              <a:t>Rmarkdown</a:t>
            </a:r>
            <a:r>
              <a:rPr lang="en-US" dirty="0"/>
              <a:t>)</a:t>
            </a:r>
          </a:p>
          <a:p>
            <a:r>
              <a:rPr lang="en-US" dirty="0" err="1"/>
              <a:t>Bookdown</a:t>
            </a:r>
            <a:r>
              <a:rPr lang="en-US" dirty="0"/>
              <a:t>: for books and long-form articles/reports (https://</a:t>
            </a:r>
            <a:r>
              <a:rPr lang="en-US" dirty="0" err="1"/>
              <a:t>bookdown.org</a:t>
            </a:r>
            <a:r>
              <a:rPr lang="en-US" dirty="0"/>
              <a:t>/)</a:t>
            </a:r>
          </a:p>
          <a:p>
            <a:r>
              <a:rPr lang="en-US" dirty="0"/>
              <a:t>GitHub Pages: host a website directly from a GitHub repository</a:t>
            </a:r>
          </a:p>
          <a:p>
            <a:r>
              <a:rPr lang="en-US" dirty="0" err="1"/>
              <a:t>Rpubs</a:t>
            </a:r>
            <a:r>
              <a:rPr lang="en-US" dirty="0"/>
              <a:t>: free service for hosting </a:t>
            </a:r>
            <a:r>
              <a:rPr lang="en-US" dirty="0" err="1"/>
              <a:t>Rmarkdown</a:t>
            </a:r>
            <a:r>
              <a:rPr lang="en-US" dirty="0"/>
              <a:t> documents</a:t>
            </a:r>
          </a:p>
          <a:p>
            <a:r>
              <a:rPr lang="en-US" dirty="0"/>
              <a:t>Others: Posit Connect, Netlify, Quarto Pub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2F872A-D7E5-2A4A-6ABA-6838CF9CE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5411" y="459146"/>
            <a:ext cx="2032000" cy="482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D9C8E7-5950-9319-1166-FB093BDBC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8885" y="1907091"/>
            <a:ext cx="1132169" cy="130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7497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1991</TotalTime>
  <Words>358</Words>
  <Application>Microsoft Macintosh PowerPoint</Application>
  <PresentationFormat>Widescreen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Tw Cen MT</vt:lpstr>
      <vt:lpstr>Circuit</vt:lpstr>
      <vt:lpstr>Data Visualization and Reports with Rmarkdown</vt:lpstr>
      <vt:lpstr>Science is for sharing!</vt:lpstr>
      <vt:lpstr>Rmarkdown</vt:lpstr>
      <vt:lpstr>What is Rmarkdown good for?</vt:lpstr>
      <vt:lpstr>RMArkdown with Palmer Penguins</vt:lpstr>
      <vt:lpstr>R Packages for dynamic Visualization</vt:lpstr>
      <vt:lpstr>Paramaterized Reporting</vt:lpstr>
      <vt:lpstr>Other tools &amp; Hosting Platforms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Wolfe, Jaxine</dc:creator>
  <cp:lastModifiedBy>Wolfe, Jaxine</cp:lastModifiedBy>
  <cp:revision>8</cp:revision>
  <dcterms:created xsi:type="dcterms:W3CDTF">2025-08-17T23:57:56Z</dcterms:created>
  <dcterms:modified xsi:type="dcterms:W3CDTF">2025-08-19T18:44:51Z</dcterms:modified>
</cp:coreProperties>
</file>