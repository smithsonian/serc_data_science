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1"/>
  </p:sldMasterIdLst>
  <p:sldIdLst>
    <p:sldId id="256" r:id="rId2"/>
    <p:sldId id="262" r:id="rId3"/>
    <p:sldId id="267" r:id="rId4"/>
    <p:sldId id="257" r:id="rId5"/>
    <p:sldId id="258" r:id="rId6"/>
    <p:sldId id="264" r:id="rId7"/>
    <p:sldId id="260" r:id="rId8"/>
    <p:sldId id="266" r:id="rId9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37"/>
    <p:restoredTop sz="94694"/>
  </p:normalViewPr>
  <p:slideViewPr>
    <p:cSldViewPr snapToGrid="0">
      <p:cViewPr varScale="1">
        <p:scale>
          <a:sx n="94" d="100"/>
          <a:sy n="94" d="100"/>
        </p:scale>
        <p:origin x="216" y="68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/Relationship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6" name="Picture 2" descr="\\DROBO-FS\QuickDrops\JB\PPTX NG\Droplets\LightingOverlay.png"/>
          <p:cNvPicPr>
            <a:picLocks noChangeAspect="1" noChangeArrowheads="1"/>
          </p:cNvPicPr>
          <p:nvPr/>
        </p:nvPicPr>
        <p:blipFill>
          <a:blip r:embed="rId2">
            <a:alphaModFix amt="3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-1"/>
            <a:ext cx="12192003" cy="68580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</a:extLst>
        </p:spPr>
      </p:pic>
      <p:grpSp>
        <p:nvGrpSpPr>
          <p:cNvPr id="11" name="Group 10"/>
          <p:cNvGrpSpPr/>
          <p:nvPr/>
        </p:nvGrpSpPr>
        <p:grpSpPr>
          <a:xfrm>
            <a:off x="0" y="0"/>
            <a:ext cx="2305051" cy="6858001"/>
            <a:chOff x="0" y="0"/>
            <a:chExt cx="2305051" cy="6858001"/>
          </a:xfrm>
          <a:gradFill flip="none" rotWithShape="1">
            <a:gsLst>
              <a:gs pos="0">
                <a:schemeClr val="tx2"/>
              </a:gs>
              <a:gs pos="100000">
                <a:schemeClr val="bg2">
                  <a:lumMod val="60000"/>
                  <a:lumOff val="40000"/>
                </a:schemeClr>
              </a:gs>
            </a:gsLst>
            <a:lin ang="5400000" scaled="0"/>
            <a:tileRect/>
          </a:gradFill>
        </p:grpSpPr>
        <p:sp>
          <p:nvSpPr>
            <p:cNvPr id="12" name="Rectangle 5"/>
            <p:cNvSpPr>
              <a:spLocks noChangeArrowheads="1"/>
            </p:cNvSpPr>
            <p:nvPr/>
          </p:nvSpPr>
          <p:spPr bwMode="auto">
            <a:xfrm>
              <a:off x="1209675" y="4763"/>
              <a:ext cx="23813" cy="218122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sp>
        <p:sp>
          <p:nvSpPr>
            <p:cNvPr id="13" name="Freeform 6"/>
            <p:cNvSpPr>
              <a:spLocks noEditPoints="1"/>
            </p:cNvSpPr>
            <p:nvPr/>
          </p:nvSpPr>
          <p:spPr bwMode="auto">
            <a:xfrm>
              <a:off x="1128713" y="217646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4" name="Freeform 7"/>
            <p:cNvSpPr>
              <a:spLocks noEditPoints="1"/>
            </p:cNvSpPr>
            <p:nvPr/>
          </p:nvSpPr>
          <p:spPr bwMode="auto">
            <a:xfrm>
              <a:off x="1123950" y="4021138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5" name="Rectangle 8"/>
            <p:cNvSpPr>
              <a:spLocks noChangeArrowheads="1"/>
            </p:cNvSpPr>
            <p:nvPr/>
          </p:nvSpPr>
          <p:spPr bwMode="auto">
            <a:xfrm>
              <a:off x="414338" y="9525"/>
              <a:ext cx="28575" cy="4481513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sp>
        <p:sp>
          <p:nvSpPr>
            <p:cNvPr id="16" name="Freeform 9"/>
            <p:cNvSpPr>
              <a:spLocks noEditPoints="1"/>
            </p:cNvSpPr>
            <p:nvPr/>
          </p:nvSpPr>
          <p:spPr bwMode="auto">
            <a:xfrm>
              <a:off x="333375" y="44815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7" name="Freeform 10"/>
            <p:cNvSpPr/>
            <p:nvPr/>
          </p:nvSpPr>
          <p:spPr bwMode="auto">
            <a:xfrm>
              <a:off x="190500" y="9525"/>
              <a:ext cx="152400" cy="908050"/>
            </a:xfrm>
            <a:custGeom>
              <a:avLst/>
              <a:gdLst/>
              <a:ahLst/>
              <a:cxnLst/>
              <a:rect l="0" t="0" r="r" b="b"/>
              <a:pathLst>
                <a:path w="96" h="572">
                  <a:moveTo>
                    <a:pt x="15" y="572"/>
                  </a:moveTo>
                  <a:lnTo>
                    <a:pt x="0" y="566"/>
                  </a:lnTo>
                  <a:lnTo>
                    <a:pt x="81" y="380"/>
                  </a:lnTo>
                  <a:lnTo>
                    <a:pt x="81" y="0"/>
                  </a:lnTo>
                  <a:lnTo>
                    <a:pt x="96" y="0"/>
                  </a:lnTo>
                  <a:lnTo>
                    <a:pt x="96" y="383"/>
                  </a:lnTo>
                  <a:lnTo>
                    <a:pt x="15" y="57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8" name="Freeform 11"/>
            <p:cNvSpPr/>
            <p:nvPr/>
          </p:nvSpPr>
          <p:spPr bwMode="auto">
            <a:xfrm>
              <a:off x="1290638" y="14288"/>
              <a:ext cx="376238" cy="1801813"/>
            </a:xfrm>
            <a:custGeom>
              <a:avLst/>
              <a:gdLst/>
              <a:ahLst/>
              <a:cxnLst/>
              <a:rect l="0" t="0" r="r" b="b"/>
              <a:pathLst>
                <a:path w="237" h="1135">
                  <a:moveTo>
                    <a:pt x="222" y="1135"/>
                  </a:moveTo>
                  <a:lnTo>
                    <a:pt x="0" y="620"/>
                  </a:lnTo>
                  <a:lnTo>
                    <a:pt x="0" y="0"/>
                  </a:lnTo>
                  <a:lnTo>
                    <a:pt x="18" y="0"/>
                  </a:lnTo>
                  <a:lnTo>
                    <a:pt x="18" y="617"/>
                  </a:lnTo>
                  <a:lnTo>
                    <a:pt x="237" y="1129"/>
                  </a:lnTo>
                  <a:lnTo>
                    <a:pt x="222" y="113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9" name="Freeform 12"/>
            <p:cNvSpPr>
              <a:spLocks noEditPoints="1"/>
            </p:cNvSpPr>
            <p:nvPr/>
          </p:nvSpPr>
          <p:spPr bwMode="auto">
            <a:xfrm>
              <a:off x="1600200" y="180181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0" name="Freeform 13"/>
            <p:cNvSpPr/>
            <p:nvPr/>
          </p:nvSpPr>
          <p:spPr bwMode="auto">
            <a:xfrm>
              <a:off x="1381125" y="9525"/>
              <a:ext cx="371475" cy="1425575"/>
            </a:xfrm>
            <a:custGeom>
              <a:avLst/>
              <a:gdLst/>
              <a:ahLst/>
              <a:cxnLst/>
              <a:rect l="0" t="0" r="r" b="b"/>
              <a:pathLst>
                <a:path w="234" h="898">
                  <a:moveTo>
                    <a:pt x="219" y="898"/>
                  </a:moveTo>
                  <a:lnTo>
                    <a:pt x="0" y="383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380"/>
                  </a:lnTo>
                  <a:lnTo>
                    <a:pt x="234" y="892"/>
                  </a:lnTo>
                  <a:lnTo>
                    <a:pt x="219" y="89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1" name="Freeform 14"/>
            <p:cNvSpPr/>
            <p:nvPr/>
          </p:nvSpPr>
          <p:spPr bwMode="auto">
            <a:xfrm>
              <a:off x="1643063" y="0"/>
              <a:ext cx="152400" cy="912813"/>
            </a:xfrm>
            <a:custGeom>
              <a:avLst/>
              <a:gdLst/>
              <a:ahLst/>
              <a:cxnLst/>
              <a:rect l="0" t="0" r="r" b="b"/>
              <a:pathLst>
                <a:path w="96" h="575">
                  <a:moveTo>
                    <a:pt x="96" y="575"/>
                  </a:moveTo>
                  <a:lnTo>
                    <a:pt x="78" y="575"/>
                  </a:lnTo>
                  <a:lnTo>
                    <a:pt x="78" y="192"/>
                  </a:lnTo>
                  <a:lnTo>
                    <a:pt x="0" y="6"/>
                  </a:lnTo>
                  <a:lnTo>
                    <a:pt x="15" y="0"/>
                  </a:lnTo>
                  <a:lnTo>
                    <a:pt x="96" y="189"/>
                  </a:lnTo>
                  <a:lnTo>
                    <a:pt x="96" y="57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2" name="Freeform 15"/>
            <p:cNvSpPr>
              <a:spLocks noEditPoints="1"/>
            </p:cNvSpPr>
            <p:nvPr/>
          </p:nvSpPr>
          <p:spPr bwMode="auto">
            <a:xfrm>
              <a:off x="1685925" y="14208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3" name="Freeform 16"/>
            <p:cNvSpPr>
              <a:spLocks noEditPoints="1"/>
            </p:cNvSpPr>
            <p:nvPr/>
          </p:nvSpPr>
          <p:spPr bwMode="auto">
            <a:xfrm>
              <a:off x="1685925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4" name="Freeform 17"/>
            <p:cNvSpPr/>
            <p:nvPr/>
          </p:nvSpPr>
          <p:spPr bwMode="auto">
            <a:xfrm>
              <a:off x="1743075" y="4763"/>
              <a:ext cx="419100" cy="522288"/>
            </a:xfrm>
            <a:custGeom>
              <a:avLst/>
              <a:gdLst/>
              <a:ahLst/>
              <a:cxnLst/>
              <a:rect l="0" t="0" r="r" b="b"/>
              <a:pathLst>
                <a:path w="264" h="329">
                  <a:moveTo>
                    <a:pt x="252" y="329"/>
                  </a:moveTo>
                  <a:lnTo>
                    <a:pt x="45" y="120"/>
                  </a:lnTo>
                  <a:lnTo>
                    <a:pt x="0" y="6"/>
                  </a:lnTo>
                  <a:lnTo>
                    <a:pt x="15" y="0"/>
                  </a:lnTo>
                  <a:lnTo>
                    <a:pt x="60" y="111"/>
                  </a:lnTo>
                  <a:lnTo>
                    <a:pt x="264" y="317"/>
                  </a:lnTo>
                  <a:lnTo>
                    <a:pt x="252" y="329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5" name="Freeform 18"/>
            <p:cNvSpPr>
              <a:spLocks noEditPoints="1"/>
            </p:cNvSpPr>
            <p:nvPr/>
          </p:nvSpPr>
          <p:spPr bwMode="auto">
            <a:xfrm>
              <a:off x="2119313" y="488950"/>
              <a:ext cx="161925" cy="147638"/>
            </a:xfrm>
            <a:custGeom>
              <a:avLst/>
              <a:gdLst/>
              <a:ahLst/>
              <a:cxnLst/>
              <a:rect l="0" t="0" r="r" b="b"/>
              <a:pathLst>
                <a:path w="34" h="31">
                  <a:moveTo>
                    <a:pt x="17" y="31"/>
                  </a:moveTo>
                  <a:cubicBezTo>
                    <a:pt x="13" y="31"/>
                    <a:pt x="9" y="30"/>
                    <a:pt x="6" y="27"/>
                  </a:cubicBezTo>
                  <a:cubicBezTo>
                    <a:pt x="0" y="20"/>
                    <a:pt x="0" y="10"/>
                    <a:pt x="6" y="4"/>
                  </a:cubicBezTo>
                  <a:cubicBezTo>
                    <a:pt x="9" y="1"/>
                    <a:pt x="13" y="0"/>
                    <a:pt x="17" y="0"/>
                  </a:cubicBezTo>
                  <a:cubicBezTo>
                    <a:pt x="21" y="0"/>
                    <a:pt x="25" y="1"/>
                    <a:pt x="28" y="4"/>
                  </a:cubicBezTo>
                  <a:cubicBezTo>
                    <a:pt x="34" y="10"/>
                    <a:pt x="34" y="20"/>
                    <a:pt x="28" y="27"/>
                  </a:cubicBezTo>
                  <a:cubicBezTo>
                    <a:pt x="25" y="30"/>
                    <a:pt x="21" y="31"/>
                    <a:pt x="17" y="31"/>
                  </a:cubicBezTo>
                  <a:close/>
                  <a:moveTo>
                    <a:pt x="17" y="4"/>
                  </a:moveTo>
                  <a:cubicBezTo>
                    <a:pt x="14" y="4"/>
                    <a:pt x="11" y="5"/>
                    <a:pt x="9" y="7"/>
                  </a:cubicBezTo>
                  <a:cubicBezTo>
                    <a:pt x="4" y="12"/>
                    <a:pt x="4" y="19"/>
                    <a:pt x="9" y="24"/>
                  </a:cubicBezTo>
                  <a:cubicBezTo>
                    <a:pt x="11" y="26"/>
                    <a:pt x="14" y="27"/>
                    <a:pt x="17" y="27"/>
                  </a:cubicBezTo>
                  <a:cubicBezTo>
                    <a:pt x="20" y="27"/>
                    <a:pt x="23" y="26"/>
                    <a:pt x="25" y="24"/>
                  </a:cubicBezTo>
                  <a:cubicBezTo>
                    <a:pt x="30" y="19"/>
                    <a:pt x="30" y="12"/>
                    <a:pt x="25" y="7"/>
                  </a:cubicBezTo>
                  <a:cubicBezTo>
                    <a:pt x="23" y="5"/>
                    <a:pt x="20" y="4"/>
                    <a:pt x="17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6" name="Freeform 19"/>
            <p:cNvSpPr/>
            <p:nvPr/>
          </p:nvSpPr>
          <p:spPr bwMode="auto">
            <a:xfrm>
              <a:off x="952500" y="4763"/>
              <a:ext cx="152400" cy="908050"/>
            </a:xfrm>
            <a:custGeom>
              <a:avLst/>
              <a:gdLst/>
              <a:ahLst/>
              <a:cxnLst/>
              <a:rect l="0" t="0" r="r" b="b"/>
              <a:pathLst>
                <a:path w="96" h="572">
                  <a:moveTo>
                    <a:pt x="15" y="572"/>
                  </a:moveTo>
                  <a:lnTo>
                    <a:pt x="0" y="572"/>
                  </a:lnTo>
                  <a:lnTo>
                    <a:pt x="0" y="189"/>
                  </a:lnTo>
                  <a:lnTo>
                    <a:pt x="81" y="0"/>
                  </a:lnTo>
                  <a:lnTo>
                    <a:pt x="96" y="6"/>
                  </a:lnTo>
                  <a:lnTo>
                    <a:pt x="15" y="192"/>
                  </a:lnTo>
                  <a:lnTo>
                    <a:pt x="15" y="57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7" name="Freeform 20"/>
            <p:cNvSpPr>
              <a:spLocks noEditPoints="1"/>
            </p:cNvSpPr>
            <p:nvPr/>
          </p:nvSpPr>
          <p:spPr bwMode="auto">
            <a:xfrm>
              <a:off x="866775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2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2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8" name="Freeform 21"/>
            <p:cNvSpPr>
              <a:spLocks noEditPoints="1"/>
            </p:cNvSpPr>
            <p:nvPr/>
          </p:nvSpPr>
          <p:spPr bwMode="auto">
            <a:xfrm>
              <a:off x="890588" y="155416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9" name="Freeform 22"/>
            <p:cNvSpPr/>
            <p:nvPr/>
          </p:nvSpPr>
          <p:spPr bwMode="auto">
            <a:xfrm>
              <a:off x="738188" y="5622925"/>
              <a:ext cx="338138" cy="1216025"/>
            </a:xfrm>
            <a:custGeom>
              <a:avLst/>
              <a:gdLst/>
              <a:ahLst/>
              <a:cxnLst/>
              <a:rect l="0" t="0" r="r" b="b"/>
              <a:pathLst>
                <a:path w="213" h="766">
                  <a:moveTo>
                    <a:pt x="213" y="766"/>
                  </a:moveTo>
                  <a:lnTo>
                    <a:pt x="195" y="766"/>
                  </a:lnTo>
                  <a:lnTo>
                    <a:pt x="195" y="464"/>
                  </a:lnTo>
                  <a:lnTo>
                    <a:pt x="0" y="6"/>
                  </a:lnTo>
                  <a:lnTo>
                    <a:pt x="12" y="0"/>
                  </a:lnTo>
                  <a:lnTo>
                    <a:pt x="213" y="461"/>
                  </a:lnTo>
                  <a:lnTo>
                    <a:pt x="213" y="76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0" name="Freeform 23"/>
            <p:cNvSpPr>
              <a:spLocks noEditPoints="1"/>
            </p:cNvSpPr>
            <p:nvPr/>
          </p:nvSpPr>
          <p:spPr bwMode="auto">
            <a:xfrm>
              <a:off x="647700" y="5480050"/>
              <a:ext cx="157163" cy="157163"/>
            </a:xfrm>
            <a:custGeom>
              <a:avLst/>
              <a:gdLst/>
              <a:ahLst/>
              <a:cxnLst/>
              <a:rect l="0" t="0" r="r" b="b"/>
              <a:pathLst>
                <a:path w="33" h="33">
                  <a:moveTo>
                    <a:pt x="17" y="33"/>
                  </a:moveTo>
                  <a:cubicBezTo>
                    <a:pt x="8" y="33"/>
                    <a:pt x="0" y="26"/>
                    <a:pt x="0" y="17"/>
                  </a:cubicBezTo>
                  <a:cubicBezTo>
                    <a:pt x="0" y="8"/>
                    <a:pt x="8" y="0"/>
                    <a:pt x="17" y="0"/>
                  </a:cubicBezTo>
                  <a:cubicBezTo>
                    <a:pt x="26" y="0"/>
                    <a:pt x="33" y="8"/>
                    <a:pt x="33" y="17"/>
                  </a:cubicBezTo>
                  <a:cubicBezTo>
                    <a:pt x="33" y="26"/>
                    <a:pt x="26" y="33"/>
                    <a:pt x="17" y="33"/>
                  </a:cubicBezTo>
                  <a:close/>
                  <a:moveTo>
                    <a:pt x="17" y="4"/>
                  </a:moveTo>
                  <a:cubicBezTo>
                    <a:pt x="10" y="4"/>
                    <a:pt x="4" y="10"/>
                    <a:pt x="4" y="17"/>
                  </a:cubicBezTo>
                  <a:cubicBezTo>
                    <a:pt x="4" y="24"/>
                    <a:pt x="10" y="29"/>
                    <a:pt x="17" y="29"/>
                  </a:cubicBezTo>
                  <a:cubicBezTo>
                    <a:pt x="23" y="29"/>
                    <a:pt x="29" y="24"/>
                    <a:pt x="29" y="17"/>
                  </a:cubicBezTo>
                  <a:cubicBezTo>
                    <a:pt x="29" y="10"/>
                    <a:pt x="23" y="4"/>
                    <a:pt x="17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1" name="Freeform 24"/>
            <p:cNvSpPr>
              <a:spLocks noEditPoints="1"/>
            </p:cNvSpPr>
            <p:nvPr/>
          </p:nvSpPr>
          <p:spPr bwMode="auto">
            <a:xfrm>
              <a:off x="66675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2" y="0"/>
                    <a:pt x="40" y="9"/>
                    <a:pt x="40" y="20"/>
                  </a:cubicBezTo>
                  <a:cubicBezTo>
                    <a:pt x="40" y="31"/>
                    <a:pt x="32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2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2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2" name="Freeform 25"/>
            <p:cNvSpPr/>
            <p:nvPr/>
          </p:nvSpPr>
          <p:spPr bwMode="auto">
            <a:xfrm>
              <a:off x="0" y="3897313"/>
              <a:ext cx="133350" cy="266700"/>
            </a:xfrm>
            <a:custGeom>
              <a:avLst/>
              <a:gdLst/>
              <a:ahLst/>
              <a:cxnLst/>
              <a:rect l="0" t="0" r="r" b="b"/>
              <a:pathLst>
                <a:path w="84" h="168">
                  <a:moveTo>
                    <a:pt x="69" y="168"/>
                  </a:moveTo>
                  <a:lnTo>
                    <a:pt x="0" y="6"/>
                  </a:lnTo>
                  <a:lnTo>
                    <a:pt x="12" y="0"/>
                  </a:lnTo>
                  <a:lnTo>
                    <a:pt x="84" y="162"/>
                  </a:lnTo>
                  <a:lnTo>
                    <a:pt x="69" y="16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3" name="Freeform 26"/>
            <p:cNvSpPr>
              <a:spLocks noEditPoints="1"/>
            </p:cNvSpPr>
            <p:nvPr/>
          </p:nvSpPr>
          <p:spPr bwMode="auto">
            <a:xfrm>
              <a:off x="66675" y="4149725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4" name="Freeform 27"/>
            <p:cNvSpPr/>
            <p:nvPr/>
          </p:nvSpPr>
          <p:spPr bwMode="auto">
            <a:xfrm>
              <a:off x="0" y="1644650"/>
              <a:ext cx="133350" cy="269875"/>
            </a:xfrm>
            <a:custGeom>
              <a:avLst/>
              <a:gdLst/>
              <a:ahLst/>
              <a:cxnLst/>
              <a:rect l="0" t="0" r="r" b="b"/>
              <a:pathLst>
                <a:path w="84" h="170">
                  <a:moveTo>
                    <a:pt x="12" y="170"/>
                  </a:moveTo>
                  <a:lnTo>
                    <a:pt x="0" y="164"/>
                  </a:lnTo>
                  <a:lnTo>
                    <a:pt x="69" y="0"/>
                  </a:lnTo>
                  <a:lnTo>
                    <a:pt x="84" y="6"/>
                  </a:lnTo>
                  <a:lnTo>
                    <a:pt x="12" y="17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5" name="Freeform 28"/>
            <p:cNvSpPr>
              <a:spLocks noEditPoints="1"/>
            </p:cNvSpPr>
            <p:nvPr/>
          </p:nvSpPr>
          <p:spPr bwMode="auto">
            <a:xfrm>
              <a:off x="66675" y="146843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6" name="Freeform 29"/>
            <p:cNvSpPr/>
            <p:nvPr/>
          </p:nvSpPr>
          <p:spPr bwMode="auto">
            <a:xfrm>
              <a:off x="695325" y="4763"/>
              <a:ext cx="309563" cy="1558925"/>
            </a:xfrm>
            <a:custGeom>
              <a:avLst/>
              <a:gdLst/>
              <a:ahLst/>
              <a:cxnLst/>
              <a:rect l="0" t="0" r="r" b="b"/>
              <a:pathLst>
                <a:path w="195" h="982">
                  <a:moveTo>
                    <a:pt x="195" y="982"/>
                  </a:moveTo>
                  <a:lnTo>
                    <a:pt x="177" y="982"/>
                  </a:lnTo>
                  <a:lnTo>
                    <a:pt x="177" y="805"/>
                  </a:lnTo>
                  <a:lnTo>
                    <a:pt x="0" y="629"/>
                  </a:lnTo>
                  <a:lnTo>
                    <a:pt x="0" y="0"/>
                  </a:lnTo>
                  <a:lnTo>
                    <a:pt x="18" y="0"/>
                  </a:lnTo>
                  <a:lnTo>
                    <a:pt x="18" y="623"/>
                  </a:lnTo>
                  <a:lnTo>
                    <a:pt x="195" y="796"/>
                  </a:lnTo>
                  <a:lnTo>
                    <a:pt x="195" y="98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7" name="Freeform 30"/>
            <p:cNvSpPr>
              <a:spLocks noEditPoints="1"/>
            </p:cNvSpPr>
            <p:nvPr/>
          </p:nvSpPr>
          <p:spPr bwMode="auto">
            <a:xfrm>
              <a:off x="57150" y="488156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8" name="Freeform 31"/>
            <p:cNvSpPr/>
            <p:nvPr/>
          </p:nvSpPr>
          <p:spPr bwMode="auto">
            <a:xfrm>
              <a:off x="138113" y="5060950"/>
              <a:ext cx="304800" cy="1778000"/>
            </a:xfrm>
            <a:custGeom>
              <a:avLst/>
              <a:gdLst/>
              <a:ahLst/>
              <a:cxnLst/>
              <a:rect l="0" t="0" r="r" b="b"/>
              <a:pathLst>
                <a:path w="192" h="1120">
                  <a:moveTo>
                    <a:pt x="192" y="1120"/>
                  </a:moveTo>
                  <a:lnTo>
                    <a:pt x="177" y="1120"/>
                  </a:lnTo>
                  <a:lnTo>
                    <a:pt x="177" y="360"/>
                  </a:lnTo>
                  <a:lnTo>
                    <a:pt x="0" y="183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77"/>
                  </a:lnTo>
                  <a:lnTo>
                    <a:pt x="192" y="354"/>
                  </a:lnTo>
                  <a:lnTo>
                    <a:pt x="192" y="112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9" name="Freeform 32"/>
            <p:cNvSpPr>
              <a:spLocks noEditPoints="1"/>
            </p:cNvSpPr>
            <p:nvPr/>
          </p:nvSpPr>
          <p:spPr bwMode="auto">
            <a:xfrm>
              <a:off x="561975" y="643096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0" name="Rectangle 33"/>
            <p:cNvSpPr>
              <a:spLocks noChangeArrowheads="1"/>
            </p:cNvSpPr>
            <p:nvPr/>
          </p:nvSpPr>
          <p:spPr bwMode="auto">
            <a:xfrm>
              <a:off x="642938" y="6610350"/>
              <a:ext cx="23813" cy="242888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sp>
        <p:sp>
          <p:nvSpPr>
            <p:cNvPr id="41" name="Freeform 34"/>
            <p:cNvSpPr>
              <a:spLocks noEditPoints="1"/>
            </p:cNvSpPr>
            <p:nvPr/>
          </p:nvSpPr>
          <p:spPr bwMode="auto">
            <a:xfrm>
              <a:off x="76200" y="643096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2" y="0"/>
                    <a:pt x="40" y="9"/>
                    <a:pt x="40" y="20"/>
                  </a:cubicBezTo>
                  <a:cubicBezTo>
                    <a:pt x="40" y="31"/>
                    <a:pt x="32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2" name="Freeform 35"/>
            <p:cNvSpPr/>
            <p:nvPr/>
          </p:nvSpPr>
          <p:spPr bwMode="auto">
            <a:xfrm>
              <a:off x="0" y="5978525"/>
              <a:ext cx="190500" cy="461963"/>
            </a:xfrm>
            <a:custGeom>
              <a:avLst/>
              <a:gdLst/>
              <a:ahLst/>
              <a:cxnLst/>
              <a:rect l="0" t="0" r="r" b="b"/>
              <a:pathLst>
                <a:path w="120" h="291">
                  <a:moveTo>
                    <a:pt x="120" y="291"/>
                  </a:moveTo>
                  <a:lnTo>
                    <a:pt x="105" y="291"/>
                  </a:lnTo>
                  <a:lnTo>
                    <a:pt x="105" y="114"/>
                  </a:lnTo>
                  <a:lnTo>
                    <a:pt x="0" y="9"/>
                  </a:lnTo>
                  <a:lnTo>
                    <a:pt x="12" y="0"/>
                  </a:lnTo>
                  <a:lnTo>
                    <a:pt x="120" y="108"/>
                  </a:lnTo>
                  <a:lnTo>
                    <a:pt x="120" y="291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3" name="Freeform 36"/>
            <p:cNvSpPr/>
            <p:nvPr/>
          </p:nvSpPr>
          <p:spPr bwMode="auto">
            <a:xfrm>
              <a:off x="1014413" y="1801813"/>
              <a:ext cx="214313" cy="755650"/>
            </a:xfrm>
            <a:custGeom>
              <a:avLst/>
              <a:gdLst/>
              <a:ahLst/>
              <a:cxnLst/>
              <a:rect l="0" t="0" r="r" b="b"/>
              <a:pathLst>
                <a:path w="135" h="476">
                  <a:moveTo>
                    <a:pt x="12" y="476"/>
                  </a:moveTo>
                  <a:lnTo>
                    <a:pt x="0" y="476"/>
                  </a:lnTo>
                  <a:lnTo>
                    <a:pt x="0" y="128"/>
                  </a:lnTo>
                  <a:lnTo>
                    <a:pt x="126" y="0"/>
                  </a:lnTo>
                  <a:lnTo>
                    <a:pt x="135" y="9"/>
                  </a:lnTo>
                  <a:lnTo>
                    <a:pt x="12" y="131"/>
                  </a:lnTo>
                  <a:lnTo>
                    <a:pt x="12" y="47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4" name="Freeform 37"/>
            <p:cNvSpPr>
              <a:spLocks noEditPoints="1"/>
            </p:cNvSpPr>
            <p:nvPr/>
          </p:nvSpPr>
          <p:spPr bwMode="auto">
            <a:xfrm>
              <a:off x="938213" y="2547938"/>
              <a:ext cx="166688" cy="160338"/>
            </a:xfrm>
            <a:custGeom>
              <a:avLst/>
              <a:gdLst/>
              <a:ahLst/>
              <a:cxnLst/>
              <a:rect l="0" t="0" r="r" b="b"/>
              <a:pathLst>
                <a:path w="35" h="34">
                  <a:moveTo>
                    <a:pt x="18" y="34"/>
                  </a:moveTo>
                  <a:cubicBezTo>
                    <a:pt x="8" y="34"/>
                    <a:pt x="0" y="26"/>
                    <a:pt x="0" y="17"/>
                  </a:cubicBezTo>
                  <a:cubicBezTo>
                    <a:pt x="0" y="7"/>
                    <a:pt x="8" y="0"/>
                    <a:pt x="18" y="0"/>
                  </a:cubicBezTo>
                  <a:cubicBezTo>
                    <a:pt x="27" y="0"/>
                    <a:pt x="35" y="7"/>
                    <a:pt x="35" y="17"/>
                  </a:cubicBezTo>
                  <a:cubicBezTo>
                    <a:pt x="35" y="26"/>
                    <a:pt x="27" y="34"/>
                    <a:pt x="18" y="34"/>
                  </a:cubicBezTo>
                  <a:close/>
                  <a:moveTo>
                    <a:pt x="18" y="4"/>
                  </a:moveTo>
                  <a:cubicBezTo>
                    <a:pt x="10" y="4"/>
                    <a:pt x="4" y="10"/>
                    <a:pt x="4" y="17"/>
                  </a:cubicBezTo>
                  <a:cubicBezTo>
                    <a:pt x="4" y="24"/>
                    <a:pt x="10" y="30"/>
                    <a:pt x="18" y="30"/>
                  </a:cubicBezTo>
                  <a:cubicBezTo>
                    <a:pt x="25" y="30"/>
                    <a:pt x="31" y="24"/>
                    <a:pt x="31" y="17"/>
                  </a:cubicBezTo>
                  <a:cubicBezTo>
                    <a:pt x="31" y="10"/>
                    <a:pt x="25" y="4"/>
                    <a:pt x="18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5" name="Freeform 38"/>
            <p:cNvSpPr/>
            <p:nvPr/>
          </p:nvSpPr>
          <p:spPr bwMode="auto">
            <a:xfrm>
              <a:off x="595313" y="4763"/>
              <a:ext cx="638175" cy="4025900"/>
            </a:xfrm>
            <a:custGeom>
              <a:avLst/>
              <a:gdLst/>
              <a:ahLst/>
              <a:cxnLst/>
              <a:rect l="0" t="0" r="r" b="b"/>
              <a:pathLst>
                <a:path w="402" h="2536">
                  <a:moveTo>
                    <a:pt x="402" y="2536"/>
                  </a:moveTo>
                  <a:lnTo>
                    <a:pt x="387" y="2536"/>
                  </a:lnTo>
                  <a:lnTo>
                    <a:pt x="387" y="2311"/>
                  </a:lnTo>
                  <a:lnTo>
                    <a:pt x="0" y="1925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916"/>
                  </a:lnTo>
                  <a:lnTo>
                    <a:pt x="402" y="2302"/>
                  </a:lnTo>
                  <a:lnTo>
                    <a:pt x="402" y="253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6" name="Freeform 39"/>
            <p:cNvSpPr/>
            <p:nvPr/>
          </p:nvSpPr>
          <p:spPr bwMode="auto">
            <a:xfrm>
              <a:off x="1223963" y="1382713"/>
              <a:ext cx="142875" cy="476250"/>
            </a:xfrm>
            <a:custGeom>
              <a:avLst/>
              <a:gdLst/>
              <a:ahLst/>
              <a:cxnLst/>
              <a:rect l="0" t="0" r="r" b="b"/>
              <a:pathLst>
                <a:path w="90" h="300">
                  <a:moveTo>
                    <a:pt x="90" y="300"/>
                  </a:moveTo>
                  <a:lnTo>
                    <a:pt x="78" y="300"/>
                  </a:lnTo>
                  <a:lnTo>
                    <a:pt x="78" y="84"/>
                  </a:lnTo>
                  <a:lnTo>
                    <a:pt x="0" y="9"/>
                  </a:lnTo>
                  <a:lnTo>
                    <a:pt x="9" y="0"/>
                  </a:lnTo>
                  <a:lnTo>
                    <a:pt x="90" y="81"/>
                  </a:lnTo>
                  <a:lnTo>
                    <a:pt x="90" y="30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7" name="Freeform 40"/>
            <p:cNvSpPr>
              <a:spLocks noEditPoints="1"/>
            </p:cNvSpPr>
            <p:nvPr/>
          </p:nvSpPr>
          <p:spPr bwMode="auto">
            <a:xfrm>
              <a:off x="1300163" y="1849438"/>
              <a:ext cx="109538" cy="107950"/>
            </a:xfrm>
            <a:custGeom>
              <a:avLst/>
              <a:gdLst/>
              <a:ahLst/>
              <a:cxnLst/>
              <a:rect l="0" t="0" r="r" b="b"/>
              <a:pathLst>
                <a:path w="23" h="23">
                  <a:moveTo>
                    <a:pt x="12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2" y="0"/>
                  </a:cubicBezTo>
                  <a:cubicBezTo>
                    <a:pt x="18" y="0"/>
                    <a:pt x="23" y="5"/>
                    <a:pt x="23" y="12"/>
                  </a:cubicBezTo>
                  <a:cubicBezTo>
                    <a:pt x="23" y="18"/>
                    <a:pt x="18" y="23"/>
                    <a:pt x="12" y="23"/>
                  </a:cubicBezTo>
                  <a:close/>
                  <a:moveTo>
                    <a:pt x="12" y="4"/>
                  </a:moveTo>
                  <a:cubicBezTo>
                    <a:pt x="8" y="4"/>
                    <a:pt x="4" y="8"/>
                    <a:pt x="4" y="12"/>
                  </a:cubicBezTo>
                  <a:cubicBezTo>
                    <a:pt x="4" y="16"/>
                    <a:pt x="8" y="19"/>
                    <a:pt x="12" y="19"/>
                  </a:cubicBezTo>
                  <a:cubicBezTo>
                    <a:pt x="16" y="19"/>
                    <a:pt x="19" y="16"/>
                    <a:pt x="19" y="12"/>
                  </a:cubicBezTo>
                  <a:cubicBezTo>
                    <a:pt x="19" y="8"/>
                    <a:pt x="16" y="4"/>
                    <a:pt x="12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8" name="Freeform 41"/>
            <p:cNvSpPr/>
            <p:nvPr/>
          </p:nvSpPr>
          <p:spPr bwMode="auto">
            <a:xfrm>
              <a:off x="280988" y="3417888"/>
              <a:ext cx="142875" cy="474663"/>
            </a:xfrm>
            <a:custGeom>
              <a:avLst/>
              <a:gdLst/>
              <a:ahLst/>
              <a:cxnLst/>
              <a:rect l="0" t="0" r="r" b="b"/>
              <a:pathLst>
                <a:path w="90" h="299">
                  <a:moveTo>
                    <a:pt x="12" y="299"/>
                  </a:moveTo>
                  <a:lnTo>
                    <a:pt x="0" y="299"/>
                  </a:lnTo>
                  <a:lnTo>
                    <a:pt x="0" y="80"/>
                  </a:lnTo>
                  <a:lnTo>
                    <a:pt x="81" y="0"/>
                  </a:lnTo>
                  <a:lnTo>
                    <a:pt x="90" y="8"/>
                  </a:lnTo>
                  <a:lnTo>
                    <a:pt x="12" y="83"/>
                  </a:lnTo>
                  <a:lnTo>
                    <a:pt x="12" y="299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9" name="Freeform 42"/>
            <p:cNvSpPr>
              <a:spLocks noEditPoints="1"/>
            </p:cNvSpPr>
            <p:nvPr/>
          </p:nvSpPr>
          <p:spPr bwMode="auto">
            <a:xfrm>
              <a:off x="238125" y="3883025"/>
              <a:ext cx="109538" cy="109538"/>
            </a:xfrm>
            <a:custGeom>
              <a:avLst/>
              <a:gdLst/>
              <a:ahLst/>
              <a:cxnLst/>
              <a:rect l="0" t="0" r="r" b="b"/>
              <a:pathLst>
                <a:path w="23" h="23">
                  <a:moveTo>
                    <a:pt x="11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1" y="0"/>
                  </a:cubicBezTo>
                  <a:cubicBezTo>
                    <a:pt x="17" y="0"/>
                    <a:pt x="23" y="5"/>
                    <a:pt x="23" y="12"/>
                  </a:cubicBezTo>
                  <a:cubicBezTo>
                    <a:pt x="23" y="18"/>
                    <a:pt x="17" y="23"/>
                    <a:pt x="11" y="23"/>
                  </a:cubicBezTo>
                  <a:close/>
                  <a:moveTo>
                    <a:pt x="11" y="4"/>
                  </a:moveTo>
                  <a:cubicBezTo>
                    <a:pt x="7" y="4"/>
                    <a:pt x="4" y="8"/>
                    <a:pt x="4" y="12"/>
                  </a:cubicBezTo>
                  <a:cubicBezTo>
                    <a:pt x="4" y="16"/>
                    <a:pt x="7" y="19"/>
                    <a:pt x="11" y="19"/>
                  </a:cubicBezTo>
                  <a:cubicBezTo>
                    <a:pt x="15" y="19"/>
                    <a:pt x="19" y="16"/>
                    <a:pt x="19" y="12"/>
                  </a:cubicBezTo>
                  <a:cubicBezTo>
                    <a:pt x="19" y="8"/>
                    <a:pt x="15" y="4"/>
                    <a:pt x="11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0" name="Freeform 43"/>
            <p:cNvSpPr/>
            <p:nvPr/>
          </p:nvSpPr>
          <p:spPr bwMode="auto">
            <a:xfrm>
              <a:off x="4763" y="2166938"/>
              <a:ext cx="114300" cy="452438"/>
            </a:xfrm>
            <a:custGeom>
              <a:avLst/>
              <a:gdLst/>
              <a:ahLst/>
              <a:cxnLst/>
              <a:rect l="0" t="0" r="r" b="b"/>
              <a:pathLst>
                <a:path w="72" h="285">
                  <a:moveTo>
                    <a:pt x="6" y="285"/>
                  </a:moveTo>
                  <a:lnTo>
                    <a:pt x="0" y="276"/>
                  </a:lnTo>
                  <a:lnTo>
                    <a:pt x="60" y="216"/>
                  </a:lnTo>
                  <a:lnTo>
                    <a:pt x="60" y="0"/>
                  </a:lnTo>
                  <a:lnTo>
                    <a:pt x="72" y="0"/>
                  </a:lnTo>
                  <a:lnTo>
                    <a:pt x="72" y="222"/>
                  </a:lnTo>
                  <a:lnTo>
                    <a:pt x="6" y="28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1" name="Freeform 44"/>
            <p:cNvSpPr>
              <a:spLocks noEditPoints="1"/>
            </p:cNvSpPr>
            <p:nvPr/>
          </p:nvSpPr>
          <p:spPr bwMode="auto">
            <a:xfrm>
              <a:off x="52388" y="2066925"/>
              <a:ext cx="109538" cy="109538"/>
            </a:xfrm>
            <a:custGeom>
              <a:avLst/>
              <a:gdLst/>
              <a:ahLst/>
              <a:cxnLst/>
              <a:rect l="0" t="0" r="r" b="b"/>
              <a:pathLst>
                <a:path w="23" h="23">
                  <a:moveTo>
                    <a:pt x="12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2" y="0"/>
                  </a:cubicBezTo>
                  <a:cubicBezTo>
                    <a:pt x="18" y="0"/>
                    <a:pt x="23" y="5"/>
                    <a:pt x="23" y="12"/>
                  </a:cubicBezTo>
                  <a:cubicBezTo>
                    <a:pt x="23" y="18"/>
                    <a:pt x="18" y="23"/>
                    <a:pt x="12" y="23"/>
                  </a:cubicBezTo>
                  <a:close/>
                  <a:moveTo>
                    <a:pt x="12" y="4"/>
                  </a:moveTo>
                  <a:cubicBezTo>
                    <a:pt x="8" y="4"/>
                    <a:pt x="4" y="8"/>
                    <a:pt x="4" y="12"/>
                  </a:cubicBezTo>
                  <a:cubicBezTo>
                    <a:pt x="4" y="16"/>
                    <a:pt x="8" y="19"/>
                    <a:pt x="12" y="19"/>
                  </a:cubicBezTo>
                  <a:cubicBezTo>
                    <a:pt x="16" y="19"/>
                    <a:pt x="19" y="16"/>
                    <a:pt x="19" y="12"/>
                  </a:cubicBezTo>
                  <a:cubicBezTo>
                    <a:pt x="19" y="8"/>
                    <a:pt x="16" y="4"/>
                    <a:pt x="12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2" name="Rectangle 45"/>
            <p:cNvSpPr>
              <a:spLocks noChangeArrowheads="1"/>
            </p:cNvSpPr>
            <p:nvPr/>
          </p:nvSpPr>
          <p:spPr bwMode="auto">
            <a:xfrm>
              <a:off x="1228725" y="4662488"/>
              <a:ext cx="23813" cy="218122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sp>
        <p:sp>
          <p:nvSpPr>
            <p:cNvPr id="53" name="Freeform 46"/>
            <p:cNvSpPr/>
            <p:nvPr/>
          </p:nvSpPr>
          <p:spPr bwMode="auto">
            <a:xfrm>
              <a:off x="1319213" y="5041900"/>
              <a:ext cx="371475" cy="1801813"/>
            </a:xfrm>
            <a:custGeom>
              <a:avLst/>
              <a:gdLst/>
              <a:ahLst/>
              <a:cxnLst/>
              <a:rect l="0" t="0" r="r" b="b"/>
              <a:pathLst>
                <a:path w="234" h="1135">
                  <a:moveTo>
                    <a:pt x="15" y="1135"/>
                  </a:moveTo>
                  <a:lnTo>
                    <a:pt x="0" y="1135"/>
                  </a:lnTo>
                  <a:lnTo>
                    <a:pt x="0" y="515"/>
                  </a:lnTo>
                  <a:lnTo>
                    <a:pt x="0" y="512"/>
                  </a:lnTo>
                  <a:lnTo>
                    <a:pt x="219" y="0"/>
                  </a:lnTo>
                  <a:lnTo>
                    <a:pt x="234" y="6"/>
                  </a:lnTo>
                  <a:lnTo>
                    <a:pt x="15" y="518"/>
                  </a:lnTo>
                  <a:lnTo>
                    <a:pt x="15" y="113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4" name="Freeform 47"/>
            <p:cNvSpPr>
              <a:spLocks noEditPoints="1"/>
            </p:cNvSpPr>
            <p:nvPr/>
          </p:nvSpPr>
          <p:spPr bwMode="auto">
            <a:xfrm>
              <a:off x="1147763" y="44815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5" name="Freeform 48"/>
            <p:cNvSpPr/>
            <p:nvPr/>
          </p:nvSpPr>
          <p:spPr bwMode="auto">
            <a:xfrm>
              <a:off x="819150" y="3983038"/>
              <a:ext cx="347663" cy="2860675"/>
            </a:xfrm>
            <a:custGeom>
              <a:avLst/>
              <a:gdLst/>
              <a:ahLst/>
              <a:cxnLst/>
              <a:rect l="0" t="0" r="r" b="b"/>
              <a:pathLst>
                <a:path w="219" h="1802">
                  <a:moveTo>
                    <a:pt x="219" y="1802"/>
                  </a:moveTo>
                  <a:lnTo>
                    <a:pt x="201" y="1802"/>
                  </a:lnTo>
                  <a:lnTo>
                    <a:pt x="201" y="1185"/>
                  </a:lnTo>
                  <a:lnTo>
                    <a:pt x="0" y="3"/>
                  </a:lnTo>
                  <a:lnTo>
                    <a:pt x="15" y="0"/>
                  </a:lnTo>
                  <a:lnTo>
                    <a:pt x="219" y="1185"/>
                  </a:lnTo>
                  <a:lnTo>
                    <a:pt x="219" y="180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6" name="Freeform 49"/>
            <p:cNvSpPr>
              <a:spLocks noEditPoints="1"/>
            </p:cNvSpPr>
            <p:nvPr/>
          </p:nvSpPr>
          <p:spPr bwMode="auto">
            <a:xfrm>
              <a:off x="728663" y="3806825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7" name="Freeform 50"/>
            <p:cNvSpPr>
              <a:spLocks noEditPoints="1"/>
            </p:cNvSpPr>
            <p:nvPr/>
          </p:nvSpPr>
          <p:spPr bwMode="auto">
            <a:xfrm>
              <a:off x="1624013" y="4867275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8" name="Freeform 51"/>
            <p:cNvSpPr/>
            <p:nvPr/>
          </p:nvSpPr>
          <p:spPr bwMode="auto">
            <a:xfrm>
              <a:off x="1404938" y="5422900"/>
              <a:ext cx="371475" cy="1425575"/>
            </a:xfrm>
            <a:custGeom>
              <a:avLst/>
              <a:gdLst/>
              <a:ahLst/>
              <a:cxnLst/>
              <a:rect l="0" t="0" r="r" b="b"/>
              <a:pathLst>
                <a:path w="234" h="898">
                  <a:moveTo>
                    <a:pt x="18" y="898"/>
                  </a:moveTo>
                  <a:lnTo>
                    <a:pt x="0" y="898"/>
                  </a:lnTo>
                  <a:lnTo>
                    <a:pt x="0" y="515"/>
                  </a:lnTo>
                  <a:lnTo>
                    <a:pt x="0" y="512"/>
                  </a:lnTo>
                  <a:lnTo>
                    <a:pt x="222" y="0"/>
                  </a:lnTo>
                  <a:lnTo>
                    <a:pt x="234" y="6"/>
                  </a:lnTo>
                  <a:lnTo>
                    <a:pt x="18" y="518"/>
                  </a:lnTo>
                  <a:lnTo>
                    <a:pt x="18" y="89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9" name="Freeform 52"/>
            <p:cNvSpPr/>
            <p:nvPr/>
          </p:nvSpPr>
          <p:spPr bwMode="auto">
            <a:xfrm>
              <a:off x="1666875" y="5945188"/>
              <a:ext cx="152400" cy="912813"/>
            </a:xfrm>
            <a:custGeom>
              <a:avLst/>
              <a:gdLst/>
              <a:ahLst/>
              <a:cxnLst/>
              <a:rect l="0" t="0" r="r" b="b"/>
              <a:pathLst>
                <a:path w="96" h="575">
                  <a:moveTo>
                    <a:pt x="15" y="575"/>
                  </a:moveTo>
                  <a:lnTo>
                    <a:pt x="0" y="569"/>
                  </a:lnTo>
                  <a:lnTo>
                    <a:pt x="81" y="383"/>
                  </a:lnTo>
                  <a:lnTo>
                    <a:pt x="81" y="0"/>
                  </a:lnTo>
                  <a:lnTo>
                    <a:pt x="96" y="0"/>
                  </a:lnTo>
                  <a:lnTo>
                    <a:pt x="96" y="386"/>
                  </a:lnTo>
                  <a:lnTo>
                    <a:pt x="15" y="57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0" name="Freeform 53"/>
            <p:cNvSpPr>
              <a:spLocks noEditPoints="1"/>
            </p:cNvSpPr>
            <p:nvPr/>
          </p:nvSpPr>
          <p:spPr bwMode="auto">
            <a:xfrm>
              <a:off x="1709738" y="52466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1" name="Freeform 54"/>
            <p:cNvSpPr>
              <a:spLocks noEditPoints="1"/>
            </p:cNvSpPr>
            <p:nvPr/>
          </p:nvSpPr>
          <p:spPr bwMode="auto">
            <a:xfrm>
              <a:off x="1709738" y="57642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2" name="Freeform 55"/>
            <p:cNvSpPr/>
            <p:nvPr/>
          </p:nvSpPr>
          <p:spPr bwMode="auto">
            <a:xfrm>
              <a:off x="1766888" y="6330950"/>
              <a:ext cx="419100" cy="527050"/>
            </a:xfrm>
            <a:custGeom>
              <a:avLst/>
              <a:gdLst/>
              <a:ahLst/>
              <a:cxnLst/>
              <a:rect l="0" t="0" r="r" b="b"/>
              <a:pathLst>
                <a:path w="264" h="332">
                  <a:moveTo>
                    <a:pt x="12" y="332"/>
                  </a:moveTo>
                  <a:lnTo>
                    <a:pt x="0" y="326"/>
                  </a:lnTo>
                  <a:lnTo>
                    <a:pt x="45" y="206"/>
                  </a:lnTo>
                  <a:lnTo>
                    <a:pt x="255" y="0"/>
                  </a:lnTo>
                  <a:lnTo>
                    <a:pt x="264" y="12"/>
                  </a:lnTo>
                  <a:lnTo>
                    <a:pt x="60" y="215"/>
                  </a:lnTo>
                  <a:lnTo>
                    <a:pt x="12" y="33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3" name="Freeform 56"/>
            <p:cNvSpPr>
              <a:spLocks noEditPoints="1"/>
            </p:cNvSpPr>
            <p:nvPr/>
          </p:nvSpPr>
          <p:spPr bwMode="auto">
            <a:xfrm>
              <a:off x="2147888" y="6221413"/>
              <a:ext cx="157163" cy="147638"/>
            </a:xfrm>
            <a:custGeom>
              <a:avLst/>
              <a:gdLst/>
              <a:ahLst/>
              <a:cxnLst/>
              <a:rect l="0" t="0" r="r" b="b"/>
              <a:pathLst>
                <a:path w="33" h="31">
                  <a:moveTo>
                    <a:pt x="16" y="31"/>
                  </a:moveTo>
                  <a:cubicBezTo>
                    <a:pt x="12" y="31"/>
                    <a:pt x="8" y="29"/>
                    <a:pt x="5" y="26"/>
                  </a:cubicBezTo>
                  <a:cubicBezTo>
                    <a:pt x="2" y="24"/>
                    <a:pt x="0" y="20"/>
                    <a:pt x="0" y="15"/>
                  </a:cubicBezTo>
                  <a:cubicBezTo>
                    <a:pt x="0" y="11"/>
                    <a:pt x="2" y="7"/>
                    <a:pt x="5" y="4"/>
                  </a:cubicBezTo>
                  <a:cubicBezTo>
                    <a:pt x="8" y="1"/>
                    <a:pt x="12" y="0"/>
                    <a:pt x="16" y="0"/>
                  </a:cubicBezTo>
                  <a:cubicBezTo>
                    <a:pt x="20" y="0"/>
                    <a:pt x="24" y="1"/>
                    <a:pt x="27" y="4"/>
                  </a:cubicBezTo>
                  <a:cubicBezTo>
                    <a:pt x="33" y="10"/>
                    <a:pt x="33" y="20"/>
                    <a:pt x="27" y="26"/>
                  </a:cubicBezTo>
                  <a:cubicBezTo>
                    <a:pt x="24" y="29"/>
                    <a:pt x="20" y="31"/>
                    <a:pt x="16" y="31"/>
                  </a:cubicBezTo>
                  <a:close/>
                  <a:moveTo>
                    <a:pt x="16" y="4"/>
                  </a:moveTo>
                  <a:cubicBezTo>
                    <a:pt x="13" y="4"/>
                    <a:pt x="10" y="5"/>
                    <a:pt x="8" y="7"/>
                  </a:cubicBezTo>
                  <a:cubicBezTo>
                    <a:pt x="6" y="9"/>
                    <a:pt x="4" y="12"/>
                    <a:pt x="4" y="15"/>
                  </a:cubicBezTo>
                  <a:cubicBezTo>
                    <a:pt x="4" y="19"/>
                    <a:pt x="6" y="21"/>
                    <a:pt x="8" y="24"/>
                  </a:cubicBezTo>
                  <a:cubicBezTo>
                    <a:pt x="10" y="26"/>
                    <a:pt x="13" y="27"/>
                    <a:pt x="16" y="27"/>
                  </a:cubicBezTo>
                  <a:cubicBezTo>
                    <a:pt x="19" y="27"/>
                    <a:pt x="22" y="26"/>
                    <a:pt x="24" y="24"/>
                  </a:cubicBezTo>
                  <a:cubicBezTo>
                    <a:pt x="29" y="19"/>
                    <a:pt x="29" y="12"/>
                    <a:pt x="24" y="7"/>
                  </a:cubicBezTo>
                  <a:cubicBezTo>
                    <a:pt x="22" y="5"/>
                    <a:pt x="19" y="4"/>
                    <a:pt x="16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4" name="Freeform 57"/>
            <p:cNvSpPr/>
            <p:nvPr/>
          </p:nvSpPr>
          <p:spPr bwMode="auto">
            <a:xfrm>
              <a:off x="504825" y="9525"/>
              <a:ext cx="233363" cy="5103813"/>
            </a:xfrm>
            <a:custGeom>
              <a:avLst/>
              <a:gdLst/>
              <a:ahLst/>
              <a:cxnLst/>
              <a:rect l="0" t="0" r="r" b="b"/>
              <a:pathLst>
                <a:path w="147" h="3215">
                  <a:moveTo>
                    <a:pt x="132" y="3215"/>
                  </a:moveTo>
                  <a:lnTo>
                    <a:pt x="129" y="2754"/>
                  </a:lnTo>
                  <a:lnTo>
                    <a:pt x="0" y="1901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898"/>
                  </a:lnTo>
                  <a:lnTo>
                    <a:pt x="144" y="2754"/>
                  </a:lnTo>
                  <a:lnTo>
                    <a:pt x="147" y="3215"/>
                  </a:lnTo>
                  <a:lnTo>
                    <a:pt x="132" y="321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5" name="Freeform 58"/>
            <p:cNvSpPr>
              <a:spLocks noEditPoints="1"/>
            </p:cNvSpPr>
            <p:nvPr/>
          </p:nvSpPr>
          <p:spPr bwMode="auto">
            <a:xfrm>
              <a:off x="633413" y="5103813"/>
              <a:ext cx="185738" cy="185738"/>
            </a:xfrm>
            <a:custGeom>
              <a:avLst/>
              <a:gdLst/>
              <a:ahLst/>
              <a:cxnLst/>
              <a:rect l="0" t="0" r="r" b="b"/>
              <a:pathLst>
                <a:path w="39" h="39">
                  <a:moveTo>
                    <a:pt x="20" y="39"/>
                  </a:moveTo>
                  <a:cubicBezTo>
                    <a:pt x="9" y="39"/>
                    <a:pt x="0" y="30"/>
                    <a:pt x="0" y="19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0" y="0"/>
                    <a:pt x="39" y="9"/>
                    <a:pt x="39" y="19"/>
                  </a:cubicBezTo>
                  <a:cubicBezTo>
                    <a:pt x="39" y="30"/>
                    <a:pt x="30" y="39"/>
                    <a:pt x="20" y="39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19"/>
                  </a:cubicBezTo>
                  <a:cubicBezTo>
                    <a:pt x="4" y="28"/>
                    <a:pt x="11" y="35"/>
                    <a:pt x="20" y="35"/>
                  </a:cubicBezTo>
                  <a:cubicBezTo>
                    <a:pt x="28" y="35"/>
                    <a:pt x="35" y="28"/>
                    <a:pt x="35" y="19"/>
                  </a:cubicBezTo>
                  <a:cubicBezTo>
                    <a:pt x="35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876424" y="1122363"/>
            <a:ext cx="8791575" cy="2387600"/>
          </a:xfrm>
        </p:spPr>
        <p:txBody>
          <a:bodyPr anchor="b">
            <a:normAutofit/>
          </a:bodyPr>
          <a:lstStyle>
            <a:lvl1pPr algn="l">
              <a:defRPr sz="4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76424" y="3602038"/>
            <a:ext cx="8791575" cy="1655762"/>
          </a:xfrm>
        </p:spPr>
        <p:txBody>
          <a:bodyPr>
            <a:normAutofit/>
          </a:bodyPr>
          <a:lstStyle>
            <a:lvl1pPr marL="0" indent="0" algn="l">
              <a:buNone/>
              <a:defRPr sz="2000" cap="all" baseline="0">
                <a:solidFill>
                  <a:schemeClr val="tx2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7077511" y="5410201"/>
            <a:ext cx="2743200" cy="365125"/>
          </a:xfrm>
        </p:spPr>
        <p:txBody>
          <a:bodyPr/>
          <a:lstStyle/>
          <a:p>
            <a:fld id="{48A87A34-81AB-432B-8DAE-1953F412C126}" type="datetimeFigureOut">
              <a:rPr lang="en-US" dirty="0"/>
              <a:t>8/19/25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1876424" y="5410201"/>
            <a:ext cx="5124886" cy="365125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9896911" y="5410199"/>
            <a:ext cx="771089" cy="365125"/>
          </a:xfrm>
        </p:spPr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8/19/25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1" y="1419226"/>
            <a:ext cx="9906000" cy="2852737"/>
          </a:xfrm>
        </p:spPr>
        <p:txBody>
          <a:bodyPr anchor="b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1411" y="4424362"/>
            <a:ext cx="9906000" cy="1374776"/>
          </a:xfrm>
        </p:spPr>
        <p:txBody>
          <a:bodyPr>
            <a:normAutofit/>
          </a:bodyPr>
          <a:lstStyle>
            <a:lvl1pPr marL="0" indent="0">
              <a:buNone/>
              <a:defRPr sz="1800" cap="all" baseline="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8/19/25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141410" y="2249486"/>
            <a:ext cx="4878389" cy="354171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2249486"/>
            <a:ext cx="4875211" cy="354171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8/19/25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1" y="619126"/>
            <a:ext cx="9906000" cy="1477961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70019" y="2249486"/>
            <a:ext cx="4649783" cy="823912"/>
          </a:xfrm>
        </p:spPr>
        <p:txBody>
          <a:bodyPr anchor="b"/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141410" y="3073397"/>
            <a:ext cx="4878391" cy="271780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400808" y="2249485"/>
            <a:ext cx="4646602" cy="823912"/>
          </a:xfrm>
        </p:spPr>
        <p:txBody>
          <a:bodyPr anchor="b"/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3073397"/>
            <a:ext cx="4875210" cy="271780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8/19/25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8/19/25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8/19/25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6705" y="609601"/>
            <a:ext cx="3856037" cy="1639884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56200" y="592666"/>
            <a:ext cx="5891209" cy="5198534"/>
          </a:xfrm>
        </p:spPr>
        <p:txBody>
          <a:bodyPr anchor="ctr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6705" y="2249486"/>
            <a:ext cx="3856037" cy="3541714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8/19/25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3" y="609600"/>
            <a:ext cx="5934508" cy="1639886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7380721" y="609601"/>
            <a:ext cx="3666690" cy="5181599"/>
          </a:xfrm>
          <a:prstGeom prst="round2DiagRect">
            <a:avLst>
              <a:gd name="adj1" fmla="val 5608"/>
              <a:gd name="adj2" fmla="val 0"/>
            </a:avLst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410" y="2249486"/>
            <a:ext cx="5934511" cy="3541714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8/19/25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ic 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0" y="4304664"/>
            <a:ext cx="9912355" cy="819355"/>
          </a:xfrm>
        </p:spPr>
        <p:txBody>
          <a:bodyPr anchor="b">
            <a:normAutofit/>
          </a:bodyPr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141411" y="606426"/>
            <a:ext cx="9912354" cy="3299778"/>
          </a:xfrm>
          <a:prstGeom prst="round2DiagRect">
            <a:avLst>
              <a:gd name="adj1" fmla="val 4860"/>
              <a:gd name="adj2" fmla="val 0"/>
            </a:avLst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3200"/>
            </a:lvl1pPr>
          </a:lstStyle>
          <a:p>
            <a:pPr marL="0" lvl="0" indent="0">
              <a:buNone/>
            </a:pPr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364" y="5124020"/>
            <a:ext cx="9910859" cy="682472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8/19/25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56" y="609600"/>
            <a:ext cx="9905955" cy="3429000"/>
          </a:xfrm>
        </p:spPr>
        <p:txBody>
          <a:bodyPr anchor="ctr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410" y="4419599"/>
            <a:ext cx="9904459" cy="1371599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8/19/25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6212" y="609599"/>
            <a:ext cx="9302752" cy="2748429"/>
          </a:xfrm>
        </p:spPr>
        <p:txBody>
          <a:bodyPr anchor="ctr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3"/>
          </p:nvPr>
        </p:nvSpPr>
        <p:spPr>
          <a:xfrm>
            <a:off x="1720644" y="3365557"/>
            <a:ext cx="8752299" cy="54896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411" y="4309919"/>
            <a:ext cx="9906002" cy="1489496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8/19/25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  <p:sp>
        <p:nvSpPr>
          <p:cNvPr id="60" name="TextBox 59"/>
          <p:cNvSpPr txBox="1"/>
          <p:nvPr/>
        </p:nvSpPr>
        <p:spPr>
          <a:xfrm>
            <a:off x="903512" y="732394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  <a:latin typeface="+mj-lt"/>
                <a:ea typeface="+mj-ea"/>
                <a:cs typeface="Trebuchet MS"/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0537370" y="2764972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  <a:latin typeface="+mj-lt"/>
                <a:ea typeface="+mj-ea"/>
                <a:cs typeface="Trebuchet MS"/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”</a:t>
            </a:r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0" y="2134041"/>
            <a:ext cx="9906001" cy="2511835"/>
          </a:xfrm>
        </p:spPr>
        <p:txBody>
          <a:bodyPr anchor="b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364" y="4657655"/>
            <a:ext cx="9904505" cy="1140644"/>
          </a:xfrm>
        </p:spPr>
        <p:txBody>
          <a:bodyPr anchor="t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8/19/25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itle 1"/>
          <p:cNvSpPr>
            <a:spLocks noGrp="1"/>
          </p:cNvSpPr>
          <p:nvPr>
            <p:ph type="title"/>
          </p:nvPr>
        </p:nvSpPr>
        <p:spPr>
          <a:xfrm>
            <a:off x="1141413" y="609600"/>
            <a:ext cx="9905998" cy="190500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Text Placeholder 2"/>
          <p:cNvSpPr>
            <a:spLocks noGrp="1"/>
          </p:cNvSpPr>
          <p:nvPr>
            <p:ph type="body" idx="1"/>
          </p:nvPr>
        </p:nvSpPr>
        <p:spPr>
          <a:xfrm>
            <a:off x="1141410" y="2674463"/>
            <a:ext cx="3196899" cy="685800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15"/>
          </p:nvPr>
        </p:nvSpPr>
        <p:spPr>
          <a:xfrm>
            <a:off x="1127918" y="3360263"/>
            <a:ext cx="3208735" cy="2430936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514766" y="2677635"/>
            <a:ext cx="3184385" cy="685800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16"/>
          </p:nvPr>
        </p:nvSpPr>
        <p:spPr>
          <a:xfrm>
            <a:off x="4504213" y="3363435"/>
            <a:ext cx="3195830" cy="2430936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1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852442" y="2674463"/>
            <a:ext cx="3194968" cy="685800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7"/>
          </p:nvPr>
        </p:nvSpPr>
        <p:spPr>
          <a:xfrm>
            <a:off x="7852442" y="3360263"/>
            <a:ext cx="3194968" cy="2430936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8/19/25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Pictur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Title 1"/>
          <p:cNvSpPr>
            <a:spLocks noGrp="1"/>
          </p:cNvSpPr>
          <p:nvPr>
            <p:ph type="title"/>
          </p:nvPr>
        </p:nvSpPr>
        <p:spPr>
          <a:xfrm>
            <a:off x="1141411" y="609600"/>
            <a:ext cx="9905999" cy="190500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9" name="Text Placeholder 2"/>
          <p:cNvSpPr>
            <a:spLocks noGrp="1"/>
          </p:cNvSpPr>
          <p:nvPr>
            <p:ph type="body" idx="1"/>
          </p:nvPr>
        </p:nvSpPr>
        <p:spPr>
          <a:xfrm>
            <a:off x="1141413" y="4404596"/>
            <a:ext cx="3195240" cy="576262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0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0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1141413" y="2666998"/>
            <a:ext cx="3195240" cy="1524000"/>
          </a:xfrm>
          <a:prstGeom prst="round2DiagRect">
            <a:avLst/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2000" dirty="0"/>
            </a:lvl1pPr>
          </a:lstStyle>
          <a:p>
            <a:pPr marL="0" lvl="0" indent="0">
              <a:buNone/>
            </a:pPr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1" name="Text Placeholder 3"/>
          <p:cNvSpPr>
            <a:spLocks noGrp="1"/>
          </p:cNvSpPr>
          <p:nvPr>
            <p:ph type="body" sz="half" idx="18"/>
          </p:nvPr>
        </p:nvSpPr>
        <p:spPr>
          <a:xfrm>
            <a:off x="1141413" y="4980858"/>
            <a:ext cx="3195240" cy="817843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2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489053" y="4404596"/>
            <a:ext cx="3200400" cy="576262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0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3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4489053" y="2666998"/>
            <a:ext cx="3198940" cy="1524000"/>
          </a:xfrm>
          <a:prstGeom prst="round2DiagRect">
            <a:avLst/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2000" dirty="0"/>
            </a:lvl1pPr>
          </a:lstStyle>
          <a:p>
            <a:pPr marL="0" lvl="0" indent="0">
              <a:buNone/>
            </a:pPr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19"/>
          </p:nvPr>
        </p:nvSpPr>
        <p:spPr>
          <a:xfrm>
            <a:off x="4487593" y="4980857"/>
            <a:ext cx="3200400" cy="810342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5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852567" y="4404595"/>
            <a:ext cx="3190741" cy="576262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0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6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7852442" y="2666998"/>
            <a:ext cx="3194969" cy="1524000"/>
          </a:xfrm>
          <a:prstGeom prst="round2DiagRect">
            <a:avLst/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2000" dirty="0"/>
            </a:lvl1pPr>
          </a:lstStyle>
          <a:p>
            <a:pPr marL="0" lvl="0" indent="0">
              <a:buNone/>
            </a:pPr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7" name="Text Placeholder 3"/>
          <p:cNvSpPr>
            <a:spLocks noGrp="1"/>
          </p:cNvSpPr>
          <p:nvPr>
            <p:ph type="body" sz="half" idx="20"/>
          </p:nvPr>
        </p:nvSpPr>
        <p:spPr>
          <a:xfrm>
            <a:off x="7852442" y="4980854"/>
            <a:ext cx="3194968" cy="810345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8/19/25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8/19/25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9042400" y="609599"/>
            <a:ext cx="2005011" cy="5181601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141410" y="609599"/>
            <a:ext cx="7748590" cy="5181601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8/19/25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image" Target="../media/image2.png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2" descr="\\DROBO-FS\QuickDrops\JB\PPTX NG\Droplets\LightingOverlay.png"/>
          <p:cNvPicPr>
            <a:picLocks noChangeAspect="1" noChangeArrowheads="1"/>
          </p:cNvPicPr>
          <p:nvPr/>
        </p:nvPicPr>
        <p:blipFill>
          <a:blip r:embed="rId19">
            <a:alphaModFix amt="3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-1"/>
            <a:ext cx="12192003" cy="68580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</a:extLst>
        </p:spPr>
      </p:pic>
      <p:grpSp>
        <p:nvGrpSpPr>
          <p:cNvPr id="8" name="Group 7"/>
          <p:cNvGrpSpPr/>
          <p:nvPr/>
        </p:nvGrpSpPr>
        <p:grpSpPr>
          <a:xfrm>
            <a:off x="-14288" y="0"/>
            <a:ext cx="12053888" cy="6858001"/>
            <a:chOff x="-14288" y="0"/>
            <a:chExt cx="12053888" cy="6858001"/>
          </a:xfrm>
        </p:grpSpPr>
        <p:grpSp>
          <p:nvGrpSpPr>
            <p:cNvPr id="9" name="Group 8"/>
            <p:cNvGrpSpPr/>
            <p:nvPr/>
          </p:nvGrpSpPr>
          <p:grpSpPr>
            <a:xfrm>
              <a:off x="-14288" y="0"/>
              <a:ext cx="1220788" cy="6858001"/>
              <a:chOff x="-14288" y="0"/>
              <a:chExt cx="1220788" cy="6858001"/>
            </a:xfrm>
            <a:gradFill flip="none" rotWithShape="1">
              <a:gsLst>
                <a:gs pos="0">
                  <a:schemeClr val="tx2"/>
                </a:gs>
                <a:gs pos="100000">
                  <a:schemeClr val="bg2">
                    <a:lumMod val="60000"/>
                    <a:lumOff val="40000"/>
                  </a:schemeClr>
                </a:gs>
              </a:gsLst>
              <a:lin ang="5400000" scaled="0"/>
              <a:tileRect/>
            </a:gradFill>
          </p:grpSpPr>
          <p:sp>
            <p:nvSpPr>
              <p:cNvPr id="21" name="Rectangle 5"/>
              <p:cNvSpPr>
                <a:spLocks noChangeArrowheads="1"/>
              </p:cNvSpPr>
              <p:nvPr/>
            </p:nvSpPr>
            <p:spPr bwMode="auto">
              <a:xfrm>
                <a:off x="114300" y="4763"/>
                <a:ext cx="23813" cy="2181225"/>
              </a:xfrm>
              <a:prstGeom prst="rect">
                <a:avLst/>
              </a:pr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sp>
          <p:sp>
            <p:nvSpPr>
              <p:cNvPr id="22" name="Freeform 6"/>
              <p:cNvSpPr>
                <a:spLocks noEditPoints="1"/>
              </p:cNvSpPr>
              <p:nvPr/>
            </p:nvSpPr>
            <p:spPr bwMode="auto">
              <a:xfrm>
                <a:off x="33337" y="217646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11"/>
                      <a:pt x="28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3" name="Freeform 7"/>
              <p:cNvSpPr>
                <a:spLocks noEditPoints="1"/>
              </p:cNvSpPr>
              <p:nvPr/>
            </p:nvSpPr>
            <p:spPr bwMode="auto">
              <a:xfrm>
                <a:off x="28575" y="4021138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4" name="Freeform 8"/>
              <p:cNvSpPr/>
              <p:nvPr/>
            </p:nvSpPr>
            <p:spPr bwMode="auto">
              <a:xfrm>
                <a:off x="200025" y="4763"/>
                <a:ext cx="369888" cy="1811338"/>
              </a:xfrm>
              <a:custGeom>
                <a:avLst/>
                <a:gdLst/>
                <a:ahLst/>
                <a:cxnLst/>
                <a:rect l="0" t="0" r="r" b="b"/>
                <a:pathLst>
                  <a:path w="233" h="1141">
                    <a:moveTo>
                      <a:pt x="218" y="1141"/>
                    </a:moveTo>
                    <a:lnTo>
                      <a:pt x="0" y="626"/>
                    </a:lnTo>
                    <a:lnTo>
                      <a:pt x="0" y="0"/>
                    </a:lnTo>
                    <a:lnTo>
                      <a:pt x="15" y="0"/>
                    </a:lnTo>
                    <a:lnTo>
                      <a:pt x="15" y="623"/>
                    </a:lnTo>
                    <a:lnTo>
                      <a:pt x="233" y="1135"/>
                    </a:lnTo>
                    <a:lnTo>
                      <a:pt x="218" y="1141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5" name="Freeform 9"/>
              <p:cNvSpPr>
                <a:spLocks noEditPoints="1"/>
              </p:cNvSpPr>
              <p:nvPr/>
            </p:nvSpPr>
            <p:spPr bwMode="auto">
              <a:xfrm>
                <a:off x="503237" y="1801813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3" y="0"/>
                      <a:pt x="40" y="6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9"/>
                      <a:pt x="31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6" name="Freeform 10"/>
              <p:cNvSpPr/>
              <p:nvPr/>
            </p:nvSpPr>
            <p:spPr bwMode="auto">
              <a:xfrm>
                <a:off x="285750" y="4763"/>
                <a:ext cx="369888" cy="1430338"/>
              </a:xfrm>
              <a:custGeom>
                <a:avLst/>
                <a:gdLst/>
                <a:ahLst/>
                <a:cxnLst/>
                <a:rect l="0" t="0" r="r" b="b"/>
                <a:pathLst>
                  <a:path w="233" h="901">
                    <a:moveTo>
                      <a:pt x="221" y="901"/>
                    </a:moveTo>
                    <a:lnTo>
                      <a:pt x="0" y="383"/>
                    </a:lnTo>
                    <a:lnTo>
                      <a:pt x="0" y="0"/>
                    </a:lnTo>
                    <a:lnTo>
                      <a:pt x="18" y="0"/>
                    </a:lnTo>
                    <a:lnTo>
                      <a:pt x="18" y="380"/>
                    </a:lnTo>
                    <a:lnTo>
                      <a:pt x="233" y="895"/>
                    </a:lnTo>
                    <a:lnTo>
                      <a:pt x="221" y="901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7" name="Freeform 11"/>
              <p:cNvSpPr/>
              <p:nvPr/>
            </p:nvSpPr>
            <p:spPr bwMode="auto">
              <a:xfrm>
                <a:off x="546100" y="0"/>
                <a:ext cx="152400" cy="912813"/>
              </a:xfrm>
              <a:custGeom>
                <a:avLst/>
                <a:gdLst/>
                <a:ahLst/>
                <a:cxnLst/>
                <a:rect l="0" t="0" r="r" b="b"/>
                <a:pathLst>
                  <a:path w="96" h="575">
                    <a:moveTo>
                      <a:pt x="96" y="575"/>
                    </a:moveTo>
                    <a:lnTo>
                      <a:pt x="78" y="575"/>
                    </a:lnTo>
                    <a:lnTo>
                      <a:pt x="78" y="192"/>
                    </a:lnTo>
                    <a:lnTo>
                      <a:pt x="0" y="6"/>
                    </a:lnTo>
                    <a:lnTo>
                      <a:pt x="15" y="0"/>
                    </a:lnTo>
                    <a:lnTo>
                      <a:pt x="96" y="189"/>
                    </a:lnTo>
                    <a:lnTo>
                      <a:pt x="96" y="57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8" name="Freeform 12"/>
              <p:cNvSpPr>
                <a:spLocks noEditPoints="1"/>
              </p:cNvSpPr>
              <p:nvPr/>
            </p:nvSpPr>
            <p:spPr bwMode="auto">
              <a:xfrm>
                <a:off x="588962" y="142081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3" y="0"/>
                      <a:pt x="40" y="7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9"/>
                      <a:pt x="31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9" name="Freeform 13"/>
              <p:cNvSpPr>
                <a:spLocks noEditPoints="1"/>
              </p:cNvSpPr>
              <p:nvPr/>
            </p:nvSpPr>
            <p:spPr bwMode="auto">
              <a:xfrm>
                <a:off x="588962" y="903288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0" name="Freeform 14"/>
              <p:cNvSpPr/>
              <p:nvPr/>
            </p:nvSpPr>
            <p:spPr bwMode="auto">
              <a:xfrm>
                <a:off x="641350" y="0"/>
                <a:ext cx="422275" cy="527050"/>
              </a:xfrm>
              <a:custGeom>
                <a:avLst/>
                <a:gdLst/>
                <a:ahLst/>
                <a:cxnLst/>
                <a:rect l="0" t="0" r="r" b="b"/>
                <a:pathLst>
                  <a:path w="266" h="332">
                    <a:moveTo>
                      <a:pt x="257" y="332"/>
                    </a:moveTo>
                    <a:lnTo>
                      <a:pt x="48" y="123"/>
                    </a:lnTo>
                    <a:lnTo>
                      <a:pt x="0" y="6"/>
                    </a:lnTo>
                    <a:lnTo>
                      <a:pt x="15" y="0"/>
                    </a:lnTo>
                    <a:lnTo>
                      <a:pt x="63" y="114"/>
                    </a:lnTo>
                    <a:lnTo>
                      <a:pt x="266" y="320"/>
                    </a:lnTo>
                    <a:lnTo>
                      <a:pt x="257" y="332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1" name="Freeform 15"/>
              <p:cNvSpPr>
                <a:spLocks noEditPoints="1"/>
              </p:cNvSpPr>
              <p:nvPr/>
            </p:nvSpPr>
            <p:spPr bwMode="auto">
              <a:xfrm>
                <a:off x="1020762" y="488950"/>
                <a:ext cx="161925" cy="147638"/>
              </a:xfrm>
              <a:custGeom>
                <a:avLst/>
                <a:gdLst/>
                <a:ahLst/>
                <a:cxnLst/>
                <a:rect l="0" t="0" r="r" b="b"/>
                <a:pathLst>
                  <a:path w="34" h="31">
                    <a:moveTo>
                      <a:pt x="17" y="31"/>
                    </a:moveTo>
                    <a:cubicBezTo>
                      <a:pt x="13" y="31"/>
                      <a:pt x="9" y="30"/>
                      <a:pt x="6" y="27"/>
                    </a:cubicBezTo>
                    <a:cubicBezTo>
                      <a:pt x="0" y="20"/>
                      <a:pt x="0" y="10"/>
                      <a:pt x="6" y="4"/>
                    </a:cubicBezTo>
                    <a:cubicBezTo>
                      <a:pt x="9" y="1"/>
                      <a:pt x="13" y="0"/>
                      <a:pt x="17" y="0"/>
                    </a:cubicBezTo>
                    <a:cubicBezTo>
                      <a:pt x="21" y="0"/>
                      <a:pt x="25" y="1"/>
                      <a:pt x="28" y="4"/>
                    </a:cubicBezTo>
                    <a:cubicBezTo>
                      <a:pt x="34" y="10"/>
                      <a:pt x="34" y="20"/>
                      <a:pt x="28" y="27"/>
                    </a:cubicBezTo>
                    <a:cubicBezTo>
                      <a:pt x="25" y="30"/>
                      <a:pt x="21" y="31"/>
                      <a:pt x="17" y="31"/>
                    </a:cubicBezTo>
                    <a:close/>
                    <a:moveTo>
                      <a:pt x="17" y="4"/>
                    </a:moveTo>
                    <a:cubicBezTo>
                      <a:pt x="14" y="4"/>
                      <a:pt x="11" y="5"/>
                      <a:pt x="9" y="7"/>
                    </a:cubicBezTo>
                    <a:cubicBezTo>
                      <a:pt x="4" y="12"/>
                      <a:pt x="4" y="19"/>
                      <a:pt x="9" y="24"/>
                    </a:cubicBezTo>
                    <a:cubicBezTo>
                      <a:pt x="11" y="26"/>
                      <a:pt x="14" y="27"/>
                      <a:pt x="17" y="27"/>
                    </a:cubicBezTo>
                    <a:cubicBezTo>
                      <a:pt x="20" y="27"/>
                      <a:pt x="23" y="26"/>
                      <a:pt x="25" y="24"/>
                    </a:cubicBezTo>
                    <a:cubicBezTo>
                      <a:pt x="30" y="19"/>
                      <a:pt x="30" y="12"/>
                      <a:pt x="25" y="7"/>
                    </a:cubicBezTo>
                    <a:cubicBezTo>
                      <a:pt x="23" y="5"/>
                      <a:pt x="20" y="4"/>
                      <a:pt x="17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2" name="Line 16"/>
              <p:cNvSpPr>
                <a:spLocks noChangeShapeType="1"/>
              </p:cNvSpPr>
              <p:nvPr/>
            </p:nvSpPr>
            <p:spPr bwMode="auto">
              <a:xfrm>
                <a:off x="-4763" y="9525"/>
                <a:ext cx="0" cy="0"/>
              </a:xfrm>
              <a:prstGeom prst="line">
                <a:avLst/>
              </a:prstGeom>
              <a:grpFill/>
              <a:ln w="15" cap="flat">
                <a:solidFill>
                  <a:srgbClr val="FFFFFF"/>
                </a:solidFill>
                <a:prstDash val="solid"/>
                <a:miter lim="800000"/>
                <a:headEnd/>
                <a:tailEnd/>
              </a:ln>
            </p:spPr>
          </p:sp>
          <p:sp>
            <p:nvSpPr>
              <p:cNvPr id="33" name="Freeform 17"/>
              <p:cNvSpPr/>
              <p:nvPr/>
            </p:nvSpPr>
            <p:spPr bwMode="auto">
              <a:xfrm>
                <a:off x="9525" y="1801813"/>
                <a:ext cx="123825" cy="127000"/>
              </a:xfrm>
              <a:custGeom>
                <a:avLst/>
                <a:gdLst/>
                <a:ahLst/>
                <a:cxnLst/>
                <a:rect l="0" t="0" r="r" b="b"/>
                <a:pathLst>
                  <a:path w="78" h="80">
                    <a:moveTo>
                      <a:pt x="6" y="80"/>
                    </a:moveTo>
                    <a:lnTo>
                      <a:pt x="0" y="71"/>
                    </a:lnTo>
                    <a:lnTo>
                      <a:pt x="69" y="0"/>
                    </a:lnTo>
                    <a:lnTo>
                      <a:pt x="78" y="9"/>
                    </a:lnTo>
                    <a:lnTo>
                      <a:pt x="6" y="8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4" name="Freeform 18"/>
              <p:cNvSpPr/>
              <p:nvPr/>
            </p:nvSpPr>
            <p:spPr bwMode="auto">
              <a:xfrm>
                <a:off x="-9525" y="3549650"/>
                <a:ext cx="147638" cy="481013"/>
              </a:xfrm>
              <a:custGeom>
                <a:avLst/>
                <a:gdLst/>
                <a:ahLst/>
                <a:cxnLst/>
                <a:rect l="0" t="0" r="r" b="b"/>
                <a:pathLst>
                  <a:path w="93" h="303">
                    <a:moveTo>
                      <a:pt x="93" y="303"/>
                    </a:moveTo>
                    <a:lnTo>
                      <a:pt x="78" y="303"/>
                    </a:lnTo>
                    <a:lnTo>
                      <a:pt x="78" y="78"/>
                    </a:lnTo>
                    <a:lnTo>
                      <a:pt x="0" y="12"/>
                    </a:lnTo>
                    <a:lnTo>
                      <a:pt x="12" y="0"/>
                    </a:lnTo>
                    <a:lnTo>
                      <a:pt x="93" y="69"/>
                    </a:lnTo>
                    <a:lnTo>
                      <a:pt x="93" y="303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5" name="Freeform 19"/>
              <p:cNvSpPr/>
              <p:nvPr/>
            </p:nvSpPr>
            <p:spPr bwMode="auto">
              <a:xfrm>
                <a:off x="128587" y="1382713"/>
                <a:ext cx="142875" cy="476250"/>
              </a:xfrm>
              <a:custGeom>
                <a:avLst/>
                <a:gdLst/>
                <a:ahLst/>
                <a:cxnLst/>
                <a:rect l="0" t="0" r="r" b="b"/>
                <a:pathLst>
                  <a:path w="90" h="300">
                    <a:moveTo>
                      <a:pt x="90" y="300"/>
                    </a:moveTo>
                    <a:lnTo>
                      <a:pt x="78" y="300"/>
                    </a:lnTo>
                    <a:lnTo>
                      <a:pt x="78" y="84"/>
                    </a:lnTo>
                    <a:lnTo>
                      <a:pt x="0" y="9"/>
                    </a:lnTo>
                    <a:lnTo>
                      <a:pt x="9" y="0"/>
                    </a:lnTo>
                    <a:lnTo>
                      <a:pt x="90" y="81"/>
                    </a:lnTo>
                    <a:lnTo>
                      <a:pt x="90" y="30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6" name="Freeform 20"/>
              <p:cNvSpPr>
                <a:spLocks noEditPoints="1"/>
              </p:cNvSpPr>
              <p:nvPr/>
            </p:nvSpPr>
            <p:spPr bwMode="auto">
              <a:xfrm>
                <a:off x="204787" y="1849438"/>
                <a:ext cx="114300" cy="107950"/>
              </a:xfrm>
              <a:custGeom>
                <a:avLst/>
                <a:gdLst/>
                <a:ahLst/>
                <a:cxnLst/>
                <a:rect l="0" t="0" r="r" b="b"/>
                <a:pathLst>
                  <a:path w="24" h="23">
                    <a:moveTo>
                      <a:pt x="12" y="23"/>
                    </a:moveTo>
                    <a:cubicBezTo>
                      <a:pt x="6" y="23"/>
                      <a:pt x="0" y="18"/>
                      <a:pt x="0" y="12"/>
                    </a:cubicBezTo>
                    <a:cubicBezTo>
                      <a:pt x="0" y="5"/>
                      <a:pt x="6" y="0"/>
                      <a:pt x="12" y="0"/>
                    </a:cubicBezTo>
                    <a:cubicBezTo>
                      <a:pt x="18" y="0"/>
                      <a:pt x="24" y="5"/>
                      <a:pt x="24" y="12"/>
                    </a:cubicBezTo>
                    <a:cubicBezTo>
                      <a:pt x="24" y="18"/>
                      <a:pt x="18" y="23"/>
                      <a:pt x="12" y="23"/>
                    </a:cubicBezTo>
                    <a:close/>
                    <a:moveTo>
                      <a:pt x="12" y="4"/>
                    </a:moveTo>
                    <a:cubicBezTo>
                      <a:pt x="8" y="4"/>
                      <a:pt x="4" y="8"/>
                      <a:pt x="4" y="12"/>
                    </a:cubicBezTo>
                    <a:cubicBezTo>
                      <a:pt x="4" y="16"/>
                      <a:pt x="8" y="19"/>
                      <a:pt x="12" y="19"/>
                    </a:cubicBezTo>
                    <a:cubicBezTo>
                      <a:pt x="16" y="19"/>
                      <a:pt x="20" y="16"/>
                      <a:pt x="20" y="12"/>
                    </a:cubicBezTo>
                    <a:cubicBezTo>
                      <a:pt x="20" y="8"/>
                      <a:pt x="16" y="4"/>
                      <a:pt x="12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7" name="Rectangle 21"/>
              <p:cNvSpPr>
                <a:spLocks noChangeArrowheads="1"/>
              </p:cNvSpPr>
              <p:nvPr/>
            </p:nvSpPr>
            <p:spPr bwMode="auto">
              <a:xfrm>
                <a:off x="133350" y="4662488"/>
                <a:ext cx="23813" cy="2181225"/>
              </a:xfrm>
              <a:prstGeom prst="rect">
                <a:avLst/>
              </a:pr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sp>
          <p:sp>
            <p:nvSpPr>
              <p:cNvPr id="38" name="Freeform 22"/>
              <p:cNvSpPr/>
              <p:nvPr/>
            </p:nvSpPr>
            <p:spPr bwMode="auto">
              <a:xfrm>
                <a:off x="223837" y="5041900"/>
                <a:ext cx="369888" cy="1801813"/>
              </a:xfrm>
              <a:custGeom>
                <a:avLst/>
                <a:gdLst/>
                <a:ahLst/>
                <a:cxnLst/>
                <a:rect l="0" t="0" r="r" b="b"/>
                <a:pathLst>
                  <a:path w="233" h="1135">
                    <a:moveTo>
                      <a:pt x="15" y="1135"/>
                    </a:moveTo>
                    <a:lnTo>
                      <a:pt x="0" y="1135"/>
                    </a:lnTo>
                    <a:lnTo>
                      <a:pt x="0" y="515"/>
                    </a:lnTo>
                    <a:lnTo>
                      <a:pt x="0" y="512"/>
                    </a:lnTo>
                    <a:lnTo>
                      <a:pt x="218" y="0"/>
                    </a:lnTo>
                    <a:lnTo>
                      <a:pt x="233" y="6"/>
                    </a:lnTo>
                    <a:lnTo>
                      <a:pt x="15" y="518"/>
                    </a:lnTo>
                    <a:lnTo>
                      <a:pt x="15" y="113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9" name="Freeform 23"/>
              <p:cNvSpPr>
                <a:spLocks noEditPoints="1"/>
              </p:cNvSpPr>
              <p:nvPr/>
            </p:nvSpPr>
            <p:spPr bwMode="auto">
              <a:xfrm>
                <a:off x="52387" y="448151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11"/>
                      <a:pt x="28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0" name="Freeform 24"/>
              <p:cNvSpPr/>
              <p:nvPr/>
            </p:nvSpPr>
            <p:spPr bwMode="auto">
              <a:xfrm>
                <a:off x="-14288" y="5627688"/>
                <a:ext cx="85725" cy="1216025"/>
              </a:xfrm>
              <a:custGeom>
                <a:avLst/>
                <a:gdLst/>
                <a:ahLst/>
                <a:cxnLst/>
                <a:rect l="0" t="0" r="r" b="b"/>
                <a:pathLst>
                  <a:path w="54" h="766">
                    <a:moveTo>
                      <a:pt x="54" y="766"/>
                    </a:moveTo>
                    <a:lnTo>
                      <a:pt x="36" y="766"/>
                    </a:lnTo>
                    <a:lnTo>
                      <a:pt x="36" y="149"/>
                    </a:lnTo>
                    <a:lnTo>
                      <a:pt x="0" y="3"/>
                    </a:lnTo>
                    <a:lnTo>
                      <a:pt x="18" y="0"/>
                    </a:lnTo>
                    <a:lnTo>
                      <a:pt x="54" y="146"/>
                    </a:lnTo>
                    <a:lnTo>
                      <a:pt x="54" y="766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1" name="Freeform 25"/>
              <p:cNvSpPr>
                <a:spLocks noEditPoints="1"/>
              </p:cNvSpPr>
              <p:nvPr/>
            </p:nvSpPr>
            <p:spPr bwMode="auto">
              <a:xfrm>
                <a:off x="527050" y="4867275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2" name="Freeform 26"/>
              <p:cNvSpPr/>
              <p:nvPr/>
            </p:nvSpPr>
            <p:spPr bwMode="auto">
              <a:xfrm>
                <a:off x="309562" y="5422900"/>
                <a:ext cx="374650" cy="1425575"/>
              </a:xfrm>
              <a:custGeom>
                <a:avLst/>
                <a:gdLst/>
                <a:ahLst/>
                <a:cxnLst/>
                <a:rect l="0" t="0" r="r" b="b"/>
                <a:pathLst>
                  <a:path w="236" h="898">
                    <a:moveTo>
                      <a:pt x="18" y="898"/>
                    </a:moveTo>
                    <a:lnTo>
                      <a:pt x="0" y="898"/>
                    </a:lnTo>
                    <a:lnTo>
                      <a:pt x="0" y="515"/>
                    </a:lnTo>
                    <a:lnTo>
                      <a:pt x="3" y="512"/>
                    </a:lnTo>
                    <a:lnTo>
                      <a:pt x="221" y="0"/>
                    </a:lnTo>
                    <a:lnTo>
                      <a:pt x="236" y="6"/>
                    </a:lnTo>
                    <a:lnTo>
                      <a:pt x="18" y="518"/>
                    </a:lnTo>
                    <a:lnTo>
                      <a:pt x="18" y="898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3" name="Freeform 27"/>
              <p:cNvSpPr/>
              <p:nvPr/>
            </p:nvSpPr>
            <p:spPr bwMode="auto">
              <a:xfrm>
                <a:off x="569912" y="5945188"/>
                <a:ext cx="152400" cy="912813"/>
              </a:xfrm>
              <a:custGeom>
                <a:avLst/>
                <a:gdLst/>
                <a:ahLst/>
                <a:cxnLst/>
                <a:rect l="0" t="0" r="r" b="b"/>
                <a:pathLst>
                  <a:path w="96" h="575">
                    <a:moveTo>
                      <a:pt x="15" y="575"/>
                    </a:moveTo>
                    <a:lnTo>
                      <a:pt x="0" y="569"/>
                    </a:lnTo>
                    <a:lnTo>
                      <a:pt x="81" y="383"/>
                    </a:lnTo>
                    <a:lnTo>
                      <a:pt x="81" y="0"/>
                    </a:lnTo>
                    <a:lnTo>
                      <a:pt x="96" y="0"/>
                    </a:lnTo>
                    <a:lnTo>
                      <a:pt x="96" y="386"/>
                    </a:lnTo>
                    <a:lnTo>
                      <a:pt x="15" y="57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4" name="Freeform 28"/>
              <p:cNvSpPr>
                <a:spLocks noEditPoints="1"/>
              </p:cNvSpPr>
              <p:nvPr/>
            </p:nvSpPr>
            <p:spPr bwMode="auto">
              <a:xfrm>
                <a:off x="612775" y="5246688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5" name="Freeform 29"/>
              <p:cNvSpPr>
                <a:spLocks noEditPoints="1"/>
              </p:cNvSpPr>
              <p:nvPr/>
            </p:nvSpPr>
            <p:spPr bwMode="auto">
              <a:xfrm>
                <a:off x="612775" y="576421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6" name="Freeform 30"/>
              <p:cNvSpPr/>
              <p:nvPr/>
            </p:nvSpPr>
            <p:spPr bwMode="auto">
              <a:xfrm>
                <a:off x="669925" y="6330950"/>
                <a:ext cx="417513" cy="517525"/>
              </a:xfrm>
              <a:custGeom>
                <a:avLst/>
                <a:gdLst/>
                <a:ahLst/>
                <a:cxnLst/>
                <a:rect l="0" t="0" r="r" b="b"/>
                <a:pathLst>
                  <a:path w="263" h="326">
                    <a:moveTo>
                      <a:pt x="15" y="326"/>
                    </a:moveTo>
                    <a:lnTo>
                      <a:pt x="0" y="320"/>
                    </a:lnTo>
                    <a:lnTo>
                      <a:pt x="45" y="206"/>
                    </a:lnTo>
                    <a:lnTo>
                      <a:pt x="48" y="206"/>
                    </a:lnTo>
                    <a:lnTo>
                      <a:pt x="254" y="0"/>
                    </a:lnTo>
                    <a:lnTo>
                      <a:pt x="263" y="12"/>
                    </a:lnTo>
                    <a:lnTo>
                      <a:pt x="60" y="215"/>
                    </a:lnTo>
                    <a:lnTo>
                      <a:pt x="15" y="326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7" name="Freeform 31"/>
              <p:cNvSpPr>
                <a:spLocks noEditPoints="1"/>
              </p:cNvSpPr>
              <p:nvPr/>
            </p:nvSpPr>
            <p:spPr bwMode="auto">
              <a:xfrm>
                <a:off x="1049337" y="6221413"/>
                <a:ext cx="157163" cy="147638"/>
              </a:xfrm>
              <a:custGeom>
                <a:avLst/>
                <a:gdLst/>
                <a:ahLst/>
                <a:cxnLst/>
                <a:rect l="0" t="0" r="r" b="b"/>
                <a:pathLst>
                  <a:path w="33" h="31">
                    <a:moveTo>
                      <a:pt x="16" y="31"/>
                    </a:moveTo>
                    <a:cubicBezTo>
                      <a:pt x="12" y="31"/>
                      <a:pt x="8" y="29"/>
                      <a:pt x="5" y="26"/>
                    </a:cubicBezTo>
                    <a:cubicBezTo>
                      <a:pt x="2" y="24"/>
                      <a:pt x="0" y="20"/>
                      <a:pt x="0" y="15"/>
                    </a:cubicBezTo>
                    <a:cubicBezTo>
                      <a:pt x="0" y="11"/>
                      <a:pt x="2" y="7"/>
                      <a:pt x="5" y="4"/>
                    </a:cubicBezTo>
                    <a:cubicBezTo>
                      <a:pt x="8" y="1"/>
                      <a:pt x="12" y="0"/>
                      <a:pt x="16" y="0"/>
                    </a:cubicBezTo>
                    <a:cubicBezTo>
                      <a:pt x="20" y="0"/>
                      <a:pt x="24" y="1"/>
                      <a:pt x="27" y="4"/>
                    </a:cubicBezTo>
                    <a:cubicBezTo>
                      <a:pt x="33" y="10"/>
                      <a:pt x="33" y="20"/>
                      <a:pt x="27" y="26"/>
                    </a:cubicBezTo>
                    <a:cubicBezTo>
                      <a:pt x="24" y="29"/>
                      <a:pt x="20" y="31"/>
                      <a:pt x="16" y="31"/>
                    </a:cubicBezTo>
                    <a:close/>
                    <a:moveTo>
                      <a:pt x="16" y="4"/>
                    </a:moveTo>
                    <a:cubicBezTo>
                      <a:pt x="13" y="4"/>
                      <a:pt x="10" y="5"/>
                      <a:pt x="8" y="7"/>
                    </a:cubicBezTo>
                    <a:cubicBezTo>
                      <a:pt x="6" y="9"/>
                      <a:pt x="4" y="12"/>
                      <a:pt x="4" y="15"/>
                    </a:cubicBezTo>
                    <a:cubicBezTo>
                      <a:pt x="4" y="19"/>
                      <a:pt x="6" y="21"/>
                      <a:pt x="8" y="24"/>
                    </a:cubicBezTo>
                    <a:cubicBezTo>
                      <a:pt x="10" y="26"/>
                      <a:pt x="13" y="27"/>
                      <a:pt x="16" y="27"/>
                    </a:cubicBezTo>
                    <a:cubicBezTo>
                      <a:pt x="19" y="27"/>
                      <a:pt x="22" y="26"/>
                      <a:pt x="24" y="24"/>
                    </a:cubicBezTo>
                    <a:cubicBezTo>
                      <a:pt x="29" y="19"/>
                      <a:pt x="29" y="12"/>
                      <a:pt x="24" y="7"/>
                    </a:cubicBezTo>
                    <a:cubicBezTo>
                      <a:pt x="22" y="5"/>
                      <a:pt x="19" y="4"/>
                      <a:pt x="16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</p:grpSp>
        <p:grpSp>
          <p:nvGrpSpPr>
            <p:cNvPr id="10" name="Group 9"/>
            <p:cNvGrpSpPr/>
            <p:nvPr/>
          </p:nvGrpSpPr>
          <p:grpSpPr>
            <a:xfrm>
              <a:off x="11364912" y="0"/>
              <a:ext cx="674688" cy="6848476"/>
              <a:chOff x="11364912" y="0"/>
              <a:chExt cx="674688" cy="6848476"/>
            </a:xfrm>
            <a:gradFill flip="none" rotWithShape="1">
              <a:gsLst>
                <a:gs pos="0">
                  <a:schemeClr val="tx2">
                    <a:alpha val="80000"/>
                  </a:schemeClr>
                </a:gs>
                <a:gs pos="100000">
                  <a:schemeClr val="bg2">
                    <a:lumMod val="60000"/>
                    <a:lumOff val="40000"/>
                    <a:alpha val="60000"/>
                  </a:schemeClr>
                </a:gs>
              </a:gsLst>
              <a:lin ang="5400000" scaled="0"/>
              <a:tileRect/>
            </a:gradFill>
          </p:grpSpPr>
          <p:sp>
            <p:nvSpPr>
              <p:cNvPr id="11" name="Freeform 32"/>
              <p:cNvSpPr/>
              <p:nvPr/>
            </p:nvSpPr>
            <p:spPr bwMode="auto">
              <a:xfrm>
                <a:off x="11483975" y="0"/>
                <a:ext cx="417513" cy="512763"/>
              </a:xfrm>
              <a:custGeom>
                <a:avLst/>
                <a:gdLst/>
                <a:ahLst/>
                <a:cxnLst/>
                <a:rect l="0" t="0" r="r" b="b"/>
                <a:pathLst>
                  <a:path w="263" h="323">
                    <a:moveTo>
                      <a:pt x="12" y="323"/>
                    </a:moveTo>
                    <a:lnTo>
                      <a:pt x="0" y="314"/>
                    </a:lnTo>
                    <a:lnTo>
                      <a:pt x="203" y="108"/>
                    </a:lnTo>
                    <a:lnTo>
                      <a:pt x="248" y="0"/>
                    </a:lnTo>
                    <a:lnTo>
                      <a:pt x="263" y="6"/>
                    </a:lnTo>
                    <a:lnTo>
                      <a:pt x="218" y="117"/>
                    </a:lnTo>
                    <a:lnTo>
                      <a:pt x="218" y="117"/>
                    </a:lnTo>
                    <a:lnTo>
                      <a:pt x="12" y="323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2" name="Freeform 33"/>
              <p:cNvSpPr>
                <a:spLocks noEditPoints="1"/>
              </p:cNvSpPr>
              <p:nvPr/>
            </p:nvSpPr>
            <p:spPr bwMode="auto">
              <a:xfrm>
                <a:off x="11364912" y="474663"/>
                <a:ext cx="157163" cy="152400"/>
              </a:xfrm>
              <a:custGeom>
                <a:avLst/>
                <a:gdLst/>
                <a:ahLst/>
                <a:cxnLst/>
                <a:rect l="0" t="0" r="r" b="b"/>
                <a:pathLst>
                  <a:path w="33" h="32">
                    <a:moveTo>
                      <a:pt x="17" y="32"/>
                    </a:moveTo>
                    <a:cubicBezTo>
                      <a:pt x="13" y="32"/>
                      <a:pt x="9" y="30"/>
                      <a:pt x="6" y="27"/>
                    </a:cubicBezTo>
                    <a:cubicBezTo>
                      <a:pt x="0" y="21"/>
                      <a:pt x="0" y="11"/>
                      <a:pt x="6" y="5"/>
                    </a:cubicBezTo>
                    <a:cubicBezTo>
                      <a:pt x="9" y="2"/>
                      <a:pt x="13" y="0"/>
                      <a:pt x="17" y="0"/>
                    </a:cubicBezTo>
                    <a:cubicBezTo>
                      <a:pt x="21" y="0"/>
                      <a:pt x="25" y="2"/>
                      <a:pt x="28" y="5"/>
                    </a:cubicBezTo>
                    <a:cubicBezTo>
                      <a:pt x="31" y="8"/>
                      <a:pt x="33" y="12"/>
                      <a:pt x="33" y="16"/>
                    </a:cubicBezTo>
                    <a:cubicBezTo>
                      <a:pt x="33" y="20"/>
                      <a:pt x="31" y="24"/>
                      <a:pt x="28" y="27"/>
                    </a:cubicBezTo>
                    <a:cubicBezTo>
                      <a:pt x="25" y="30"/>
                      <a:pt x="21" y="32"/>
                      <a:pt x="17" y="32"/>
                    </a:cubicBezTo>
                    <a:close/>
                    <a:moveTo>
                      <a:pt x="17" y="4"/>
                    </a:moveTo>
                    <a:cubicBezTo>
                      <a:pt x="14" y="4"/>
                      <a:pt x="11" y="6"/>
                      <a:pt x="9" y="8"/>
                    </a:cubicBezTo>
                    <a:cubicBezTo>
                      <a:pt x="4" y="12"/>
                      <a:pt x="4" y="20"/>
                      <a:pt x="9" y="24"/>
                    </a:cubicBezTo>
                    <a:cubicBezTo>
                      <a:pt x="11" y="27"/>
                      <a:pt x="14" y="28"/>
                      <a:pt x="17" y="28"/>
                    </a:cubicBezTo>
                    <a:cubicBezTo>
                      <a:pt x="20" y="28"/>
                      <a:pt x="23" y="27"/>
                      <a:pt x="26" y="24"/>
                    </a:cubicBezTo>
                    <a:cubicBezTo>
                      <a:pt x="30" y="20"/>
                      <a:pt x="30" y="12"/>
                      <a:pt x="26" y="8"/>
                    </a:cubicBezTo>
                    <a:cubicBezTo>
                      <a:pt x="23" y="6"/>
                      <a:pt x="20" y="4"/>
                      <a:pt x="17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3" name="Freeform 34"/>
              <p:cNvSpPr>
                <a:spLocks noEditPoints="1"/>
              </p:cNvSpPr>
              <p:nvPr/>
            </p:nvSpPr>
            <p:spPr bwMode="auto">
              <a:xfrm>
                <a:off x="11631612" y="1539875"/>
                <a:ext cx="188913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4" name="Freeform 35"/>
              <p:cNvSpPr/>
              <p:nvPr/>
            </p:nvSpPr>
            <p:spPr bwMode="auto">
              <a:xfrm>
                <a:off x="11531600" y="5694363"/>
                <a:ext cx="298450" cy="1154113"/>
              </a:xfrm>
              <a:custGeom>
                <a:avLst/>
                <a:gdLst/>
                <a:ahLst/>
                <a:cxnLst/>
                <a:rect l="0" t="0" r="r" b="b"/>
                <a:pathLst>
                  <a:path w="188" h="727">
                    <a:moveTo>
                      <a:pt x="15" y="727"/>
                    </a:moveTo>
                    <a:lnTo>
                      <a:pt x="0" y="727"/>
                    </a:lnTo>
                    <a:lnTo>
                      <a:pt x="0" y="407"/>
                    </a:lnTo>
                    <a:lnTo>
                      <a:pt x="0" y="407"/>
                    </a:lnTo>
                    <a:lnTo>
                      <a:pt x="176" y="0"/>
                    </a:lnTo>
                    <a:lnTo>
                      <a:pt x="188" y="6"/>
                    </a:lnTo>
                    <a:lnTo>
                      <a:pt x="15" y="410"/>
                    </a:lnTo>
                    <a:lnTo>
                      <a:pt x="15" y="727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5" name="Freeform 36"/>
              <p:cNvSpPr>
                <a:spLocks noEditPoints="1"/>
              </p:cNvSpPr>
              <p:nvPr/>
            </p:nvSpPr>
            <p:spPr bwMode="auto">
              <a:xfrm>
                <a:off x="11772900" y="5551488"/>
                <a:ext cx="157163" cy="155575"/>
              </a:xfrm>
              <a:custGeom>
                <a:avLst/>
                <a:gdLst/>
                <a:ahLst/>
                <a:cxnLst/>
                <a:rect l="0" t="0" r="r" b="b"/>
                <a:pathLst>
                  <a:path w="33" h="33">
                    <a:moveTo>
                      <a:pt x="17" y="33"/>
                    </a:moveTo>
                    <a:cubicBezTo>
                      <a:pt x="8" y="33"/>
                      <a:pt x="0" y="25"/>
                      <a:pt x="0" y="16"/>
                    </a:cubicBezTo>
                    <a:cubicBezTo>
                      <a:pt x="0" y="7"/>
                      <a:pt x="8" y="0"/>
                      <a:pt x="17" y="0"/>
                    </a:cubicBezTo>
                    <a:cubicBezTo>
                      <a:pt x="26" y="0"/>
                      <a:pt x="33" y="7"/>
                      <a:pt x="33" y="16"/>
                    </a:cubicBezTo>
                    <a:cubicBezTo>
                      <a:pt x="33" y="25"/>
                      <a:pt x="26" y="33"/>
                      <a:pt x="17" y="33"/>
                    </a:cubicBezTo>
                    <a:close/>
                    <a:moveTo>
                      <a:pt x="17" y="4"/>
                    </a:moveTo>
                    <a:cubicBezTo>
                      <a:pt x="10" y="4"/>
                      <a:pt x="4" y="9"/>
                      <a:pt x="4" y="16"/>
                    </a:cubicBezTo>
                    <a:cubicBezTo>
                      <a:pt x="4" y="23"/>
                      <a:pt x="10" y="29"/>
                      <a:pt x="17" y="29"/>
                    </a:cubicBezTo>
                    <a:cubicBezTo>
                      <a:pt x="23" y="29"/>
                      <a:pt x="29" y="23"/>
                      <a:pt x="29" y="16"/>
                    </a:cubicBezTo>
                    <a:cubicBezTo>
                      <a:pt x="29" y="9"/>
                      <a:pt x="23" y="4"/>
                      <a:pt x="17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6" name="Freeform 37"/>
              <p:cNvSpPr/>
              <p:nvPr/>
            </p:nvSpPr>
            <p:spPr bwMode="auto">
              <a:xfrm>
                <a:off x="11710987" y="4763"/>
                <a:ext cx="304800" cy="1544638"/>
              </a:xfrm>
              <a:custGeom>
                <a:avLst/>
                <a:gdLst/>
                <a:ahLst/>
                <a:cxnLst/>
                <a:rect l="0" t="0" r="r" b="b"/>
                <a:pathLst>
                  <a:path w="192" h="973">
                    <a:moveTo>
                      <a:pt x="15" y="973"/>
                    </a:moveTo>
                    <a:lnTo>
                      <a:pt x="0" y="973"/>
                    </a:lnTo>
                    <a:lnTo>
                      <a:pt x="0" y="790"/>
                    </a:lnTo>
                    <a:lnTo>
                      <a:pt x="174" y="614"/>
                    </a:lnTo>
                    <a:lnTo>
                      <a:pt x="174" y="0"/>
                    </a:lnTo>
                    <a:lnTo>
                      <a:pt x="192" y="0"/>
                    </a:lnTo>
                    <a:lnTo>
                      <a:pt x="192" y="620"/>
                    </a:lnTo>
                    <a:lnTo>
                      <a:pt x="15" y="796"/>
                    </a:lnTo>
                    <a:lnTo>
                      <a:pt x="15" y="973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7" name="Freeform 38"/>
              <p:cNvSpPr>
                <a:spLocks noEditPoints="1"/>
              </p:cNvSpPr>
              <p:nvPr/>
            </p:nvSpPr>
            <p:spPr bwMode="auto">
              <a:xfrm>
                <a:off x="11636375" y="4867275"/>
                <a:ext cx="188913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8" name="Freeform 39"/>
              <p:cNvSpPr/>
              <p:nvPr/>
            </p:nvSpPr>
            <p:spPr bwMode="auto">
              <a:xfrm>
                <a:off x="11441112" y="5046663"/>
                <a:ext cx="307975" cy="1801813"/>
              </a:xfrm>
              <a:custGeom>
                <a:avLst/>
                <a:gdLst/>
                <a:ahLst/>
                <a:cxnLst/>
                <a:rect l="0" t="0" r="r" b="b"/>
                <a:pathLst>
                  <a:path w="194" h="1135">
                    <a:moveTo>
                      <a:pt x="18" y="1135"/>
                    </a:moveTo>
                    <a:lnTo>
                      <a:pt x="0" y="1135"/>
                    </a:lnTo>
                    <a:lnTo>
                      <a:pt x="0" y="354"/>
                    </a:lnTo>
                    <a:lnTo>
                      <a:pt x="176" y="177"/>
                    </a:lnTo>
                    <a:lnTo>
                      <a:pt x="176" y="0"/>
                    </a:lnTo>
                    <a:lnTo>
                      <a:pt x="194" y="0"/>
                    </a:lnTo>
                    <a:lnTo>
                      <a:pt x="194" y="183"/>
                    </a:lnTo>
                    <a:lnTo>
                      <a:pt x="18" y="360"/>
                    </a:lnTo>
                    <a:lnTo>
                      <a:pt x="18" y="113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9" name="Freeform 40"/>
              <p:cNvSpPr>
                <a:spLocks noEditPoints="1"/>
              </p:cNvSpPr>
              <p:nvPr/>
            </p:nvSpPr>
            <p:spPr bwMode="auto">
              <a:xfrm>
                <a:off x="11849100" y="6416675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0" name="Rectangle 41"/>
              <p:cNvSpPr>
                <a:spLocks noChangeArrowheads="1"/>
              </p:cNvSpPr>
              <p:nvPr/>
            </p:nvSpPr>
            <p:spPr bwMode="auto">
              <a:xfrm>
                <a:off x="11939587" y="6596063"/>
                <a:ext cx="23813" cy="252413"/>
              </a:xfrm>
              <a:prstGeom prst="rect">
                <a:avLst/>
              </a:pr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sp>
        </p:grp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141413" y="618518"/>
            <a:ext cx="9905998" cy="147857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1412" y="2249487"/>
            <a:ext cx="9905999" cy="354171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456921" y="5883276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8A87A34-81AB-432B-8DAE-1953F412C126}" type="datetimeFigureOut">
              <a:rPr lang="en-US" dirty="0"/>
              <a:pPr/>
              <a:t>8/19/25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141411" y="5883275"/>
            <a:ext cx="623930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50" cap="all" baseline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276321" y="5883274"/>
            <a:ext cx="77108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D22F896-40B5-4ADD-8801-0D06FADFA09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 bg1="dk1" tx1="lt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60" r:id="rId10"/>
    <p:sldLayoutId id="2147483661" r:id="rId11"/>
    <p:sldLayoutId id="2147483666" r:id="rId12"/>
    <p:sldLayoutId id="2147483663" r:id="rId13"/>
    <p:sldLayoutId id="2147483667" r:id="rId14"/>
    <p:sldLayoutId id="2147483668" r:id="rId15"/>
    <p:sldLayoutId id="2147483658" r:id="rId16"/>
    <p:sldLayoutId id="2147483659" r:id="rId17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600" kern="1200" cap="all" baseline="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20000"/>
        </a:lnSpc>
        <a:spcBef>
          <a:spcPts val="1000"/>
        </a:spcBef>
        <a:buSzPct val="125000"/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5.png"/><Relationship Id="rId4" Type="http://schemas.openxmlformats.org/officeDocument/2006/relationships/image" Target="../media/image4.jpe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8.png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15.svg"/><Relationship Id="rId13" Type="http://schemas.openxmlformats.org/officeDocument/2006/relationships/image" Target="../media/image20.png"/><Relationship Id="rId3" Type="http://schemas.openxmlformats.org/officeDocument/2006/relationships/image" Target="../media/image10.png"/><Relationship Id="rId7" Type="http://schemas.openxmlformats.org/officeDocument/2006/relationships/image" Target="../media/image14.png"/><Relationship Id="rId12" Type="http://schemas.openxmlformats.org/officeDocument/2006/relationships/image" Target="../media/image19.sv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3.svg"/><Relationship Id="rId11" Type="http://schemas.openxmlformats.org/officeDocument/2006/relationships/image" Target="../media/image18.png"/><Relationship Id="rId5" Type="http://schemas.openxmlformats.org/officeDocument/2006/relationships/image" Target="../media/image12.png"/><Relationship Id="rId10" Type="http://schemas.openxmlformats.org/officeDocument/2006/relationships/image" Target="../media/image17.svg"/><Relationship Id="rId4" Type="http://schemas.openxmlformats.org/officeDocument/2006/relationships/image" Target="../media/image11.svg"/><Relationship Id="rId9" Type="http://schemas.openxmlformats.org/officeDocument/2006/relationships/image" Target="../media/image16.png"/><Relationship Id="rId14" Type="http://schemas.openxmlformats.org/officeDocument/2006/relationships/image" Target="../media/image21.sv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4D6A640B-6684-4338-9199-6EE75873558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5BAB052D-92E4-4715-895B-E423230754C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0" y="-1"/>
            <a:ext cx="2305051" cy="6858001"/>
            <a:chOff x="0" y="0"/>
            <a:chExt cx="2305051" cy="6858001"/>
          </a:xfrm>
          <a:solidFill>
            <a:schemeClr val="bg2">
              <a:lumMod val="60000"/>
              <a:lumOff val="40000"/>
              <a:alpha val="60000"/>
            </a:schemeClr>
          </a:solidFill>
          <a:effectLst/>
        </p:grpSpPr>
        <p:sp>
          <p:nvSpPr>
            <p:cNvPr id="11" name="Rectangle 5">
              <a:extLst>
                <a:ext uri="{FF2B5EF4-FFF2-40B4-BE49-F238E27FC236}">
                  <a16:creationId xmlns:a16="http://schemas.microsoft.com/office/drawing/2014/main" id="{F9792D54-14D4-44D6-A491-DEA72C26C37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ChangeArrowhead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209675" y="4763"/>
              <a:ext cx="23813" cy="218122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2" name="Freeform 6">
              <a:extLst>
                <a:ext uri="{FF2B5EF4-FFF2-40B4-BE49-F238E27FC236}">
                  <a16:creationId xmlns:a16="http://schemas.microsoft.com/office/drawing/2014/main" id="{D3CB19E7-637B-4FA1-B5E7-E35CF50AD39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28713" y="217646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3" name="Freeform 7">
              <a:extLst>
                <a:ext uri="{FF2B5EF4-FFF2-40B4-BE49-F238E27FC236}">
                  <a16:creationId xmlns:a16="http://schemas.microsoft.com/office/drawing/2014/main" id="{B8CED72B-CBE7-450E-BE7C-247E884393A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23950" y="4021138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4" name="Rectangle 8">
              <a:extLst>
                <a:ext uri="{FF2B5EF4-FFF2-40B4-BE49-F238E27FC236}">
                  <a16:creationId xmlns:a16="http://schemas.microsoft.com/office/drawing/2014/main" id="{3BBD7465-3665-40AE-98E8-F8503EE2096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ChangeArrowhead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414338" y="9525"/>
              <a:ext cx="28575" cy="4481513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5" name="Freeform 9">
              <a:extLst>
                <a:ext uri="{FF2B5EF4-FFF2-40B4-BE49-F238E27FC236}">
                  <a16:creationId xmlns:a16="http://schemas.microsoft.com/office/drawing/2014/main" id="{86CB6F49-3080-4A29-860D-F8F1AC4AC30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333375" y="44815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6" name="Freeform 10">
              <a:extLst>
                <a:ext uri="{FF2B5EF4-FFF2-40B4-BE49-F238E27FC236}">
                  <a16:creationId xmlns:a16="http://schemas.microsoft.com/office/drawing/2014/main" id="{EA3A8EBB-EC1C-42C6-B409-E065ACD0EF5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90500" y="9525"/>
              <a:ext cx="152400" cy="908050"/>
            </a:xfrm>
            <a:custGeom>
              <a:avLst/>
              <a:gdLst/>
              <a:ahLst/>
              <a:cxnLst/>
              <a:rect l="0" t="0" r="r" b="b"/>
              <a:pathLst>
                <a:path w="96" h="572">
                  <a:moveTo>
                    <a:pt x="15" y="572"/>
                  </a:moveTo>
                  <a:lnTo>
                    <a:pt x="0" y="566"/>
                  </a:lnTo>
                  <a:lnTo>
                    <a:pt x="81" y="380"/>
                  </a:lnTo>
                  <a:lnTo>
                    <a:pt x="81" y="0"/>
                  </a:lnTo>
                  <a:lnTo>
                    <a:pt x="96" y="0"/>
                  </a:lnTo>
                  <a:lnTo>
                    <a:pt x="96" y="383"/>
                  </a:lnTo>
                  <a:lnTo>
                    <a:pt x="15" y="57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7" name="Freeform 11">
              <a:extLst>
                <a:ext uri="{FF2B5EF4-FFF2-40B4-BE49-F238E27FC236}">
                  <a16:creationId xmlns:a16="http://schemas.microsoft.com/office/drawing/2014/main" id="{0F0AAA08-BD9A-4F88-A60C-F2ECB84CEEF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290638" y="14288"/>
              <a:ext cx="376238" cy="1801813"/>
            </a:xfrm>
            <a:custGeom>
              <a:avLst/>
              <a:gdLst/>
              <a:ahLst/>
              <a:cxnLst/>
              <a:rect l="0" t="0" r="r" b="b"/>
              <a:pathLst>
                <a:path w="237" h="1135">
                  <a:moveTo>
                    <a:pt x="222" y="1135"/>
                  </a:moveTo>
                  <a:lnTo>
                    <a:pt x="0" y="620"/>
                  </a:lnTo>
                  <a:lnTo>
                    <a:pt x="0" y="0"/>
                  </a:lnTo>
                  <a:lnTo>
                    <a:pt x="18" y="0"/>
                  </a:lnTo>
                  <a:lnTo>
                    <a:pt x="18" y="617"/>
                  </a:lnTo>
                  <a:lnTo>
                    <a:pt x="237" y="1129"/>
                  </a:lnTo>
                  <a:lnTo>
                    <a:pt x="222" y="113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8" name="Freeform 12">
              <a:extLst>
                <a:ext uri="{FF2B5EF4-FFF2-40B4-BE49-F238E27FC236}">
                  <a16:creationId xmlns:a16="http://schemas.microsoft.com/office/drawing/2014/main" id="{44ACFC6E-01EE-4A01-8C39-0C4BC6B4EFF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600200" y="180181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9" name="Freeform 13">
              <a:extLst>
                <a:ext uri="{FF2B5EF4-FFF2-40B4-BE49-F238E27FC236}">
                  <a16:creationId xmlns:a16="http://schemas.microsoft.com/office/drawing/2014/main" id="{DDE8B861-702A-45C6-A7C5-D20764B55D8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381125" y="9525"/>
              <a:ext cx="371475" cy="1425575"/>
            </a:xfrm>
            <a:custGeom>
              <a:avLst/>
              <a:gdLst/>
              <a:ahLst/>
              <a:cxnLst/>
              <a:rect l="0" t="0" r="r" b="b"/>
              <a:pathLst>
                <a:path w="234" h="898">
                  <a:moveTo>
                    <a:pt x="219" y="898"/>
                  </a:moveTo>
                  <a:lnTo>
                    <a:pt x="0" y="383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380"/>
                  </a:lnTo>
                  <a:lnTo>
                    <a:pt x="234" y="892"/>
                  </a:lnTo>
                  <a:lnTo>
                    <a:pt x="219" y="89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20" name="Freeform 14">
              <a:extLst>
                <a:ext uri="{FF2B5EF4-FFF2-40B4-BE49-F238E27FC236}">
                  <a16:creationId xmlns:a16="http://schemas.microsoft.com/office/drawing/2014/main" id="{28DFAFFC-4BAC-4606-8F45-47284ED217D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643063" y="0"/>
              <a:ext cx="152400" cy="912813"/>
            </a:xfrm>
            <a:custGeom>
              <a:avLst/>
              <a:gdLst/>
              <a:ahLst/>
              <a:cxnLst/>
              <a:rect l="0" t="0" r="r" b="b"/>
              <a:pathLst>
                <a:path w="96" h="575">
                  <a:moveTo>
                    <a:pt x="96" y="575"/>
                  </a:moveTo>
                  <a:lnTo>
                    <a:pt x="78" y="575"/>
                  </a:lnTo>
                  <a:lnTo>
                    <a:pt x="78" y="192"/>
                  </a:lnTo>
                  <a:lnTo>
                    <a:pt x="0" y="6"/>
                  </a:lnTo>
                  <a:lnTo>
                    <a:pt x="15" y="0"/>
                  </a:lnTo>
                  <a:lnTo>
                    <a:pt x="96" y="189"/>
                  </a:lnTo>
                  <a:lnTo>
                    <a:pt x="96" y="57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21" name="Freeform 15">
              <a:extLst>
                <a:ext uri="{FF2B5EF4-FFF2-40B4-BE49-F238E27FC236}">
                  <a16:creationId xmlns:a16="http://schemas.microsoft.com/office/drawing/2014/main" id="{B141C913-8CB4-4E5B-B684-BD403677753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685925" y="14208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22" name="Freeform 16">
              <a:extLst>
                <a:ext uri="{FF2B5EF4-FFF2-40B4-BE49-F238E27FC236}">
                  <a16:creationId xmlns:a16="http://schemas.microsoft.com/office/drawing/2014/main" id="{81E80ADE-DC6D-491B-BAC4-A90D44FD458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685925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23" name="Freeform 17">
              <a:extLst>
                <a:ext uri="{FF2B5EF4-FFF2-40B4-BE49-F238E27FC236}">
                  <a16:creationId xmlns:a16="http://schemas.microsoft.com/office/drawing/2014/main" id="{4A425A61-47B5-41CA-A1D6-21C358B89DB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743075" y="4763"/>
              <a:ext cx="419100" cy="522288"/>
            </a:xfrm>
            <a:custGeom>
              <a:avLst/>
              <a:gdLst/>
              <a:ahLst/>
              <a:cxnLst/>
              <a:rect l="0" t="0" r="r" b="b"/>
              <a:pathLst>
                <a:path w="264" h="329">
                  <a:moveTo>
                    <a:pt x="252" y="329"/>
                  </a:moveTo>
                  <a:lnTo>
                    <a:pt x="45" y="120"/>
                  </a:lnTo>
                  <a:lnTo>
                    <a:pt x="0" y="6"/>
                  </a:lnTo>
                  <a:lnTo>
                    <a:pt x="15" y="0"/>
                  </a:lnTo>
                  <a:lnTo>
                    <a:pt x="60" y="111"/>
                  </a:lnTo>
                  <a:lnTo>
                    <a:pt x="264" y="317"/>
                  </a:lnTo>
                  <a:lnTo>
                    <a:pt x="252" y="329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24" name="Freeform 18">
              <a:extLst>
                <a:ext uri="{FF2B5EF4-FFF2-40B4-BE49-F238E27FC236}">
                  <a16:creationId xmlns:a16="http://schemas.microsoft.com/office/drawing/2014/main" id="{B44D4532-40A1-4CEB-8A1C-711180D5861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119313" y="488950"/>
              <a:ext cx="161925" cy="147638"/>
            </a:xfrm>
            <a:custGeom>
              <a:avLst/>
              <a:gdLst/>
              <a:ahLst/>
              <a:cxnLst/>
              <a:rect l="0" t="0" r="r" b="b"/>
              <a:pathLst>
                <a:path w="34" h="31">
                  <a:moveTo>
                    <a:pt x="17" y="31"/>
                  </a:moveTo>
                  <a:cubicBezTo>
                    <a:pt x="13" y="31"/>
                    <a:pt x="9" y="30"/>
                    <a:pt x="6" y="27"/>
                  </a:cubicBezTo>
                  <a:cubicBezTo>
                    <a:pt x="0" y="20"/>
                    <a:pt x="0" y="10"/>
                    <a:pt x="6" y="4"/>
                  </a:cubicBezTo>
                  <a:cubicBezTo>
                    <a:pt x="9" y="1"/>
                    <a:pt x="13" y="0"/>
                    <a:pt x="17" y="0"/>
                  </a:cubicBezTo>
                  <a:cubicBezTo>
                    <a:pt x="21" y="0"/>
                    <a:pt x="25" y="1"/>
                    <a:pt x="28" y="4"/>
                  </a:cubicBezTo>
                  <a:cubicBezTo>
                    <a:pt x="34" y="10"/>
                    <a:pt x="34" y="20"/>
                    <a:pt x="28" y="27"/>
                  </a:cubicBezTo>
                  <a:cubicBezTo>
                    <a:pt x="25" y="30"/>
                    <a:pt x="21" y="31"/>
                    <a:pt x="17" y="31"/>
                  </a:cubicBezTo>
                  <a:close/>
                  <a:moveTo>
                    <a:pt x="17" y="4"/>
                  </a:moveTo>
                  <a:cubicBezTo>
                    <a:pt x="14" y="4"/>
                    <a:pt x="11" y="5"/>
                    <a:pt x="9" y="7"/>
                  </a:cubicBezTo>
                  <a:cubicBezTo>
                    <a:pt x="4" y="12"/>
                    <a:pt x="4" y="19"/>
                    <a:pt x="9" y="24"/>
                  </a:cubicBezTo>
                  <a:cubicBezTo>
                    <a:pt x="11" y="26"/>
                    <a:pt x="14" y="27"/>
                    <a:pt x="17" y="27"/>
                  </a:cubicBezTo>
                  <a:cubicBezTo>
                    <a:pt x="20" y="27"/>
                    <a:pt x="23" y="26"/>
                    <a:pt x="25" y="24"/>
                  </a:cubicBezTo>
                  <a:cubicBezTo>
                    <a:pt x="30" y="19"/>
                    <a:pt x="30" y="12"/>
                    <a:pt x="25" y="7"/>
                  </a:cubicBezTo>
                  <a:cubicBezTo>
                    <a:pt x="23" y="5"/>
                    <a:pt x="20" y="4"/>
                    <a:pt x="17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25" name="Freeform 19">
              <a:extLst>
                <a:ext uri="{FF2B5EF4-FFF2-40B4-BE49-F238E27FC236}">
                  <a16:creationId xmlns:a16="http://schemas.microsoft.com/office/drawing/2014/main" id="{31056221-3B7D-4E0B-A366-3E03523EF54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952500" y="4763"/>
              <a:ext cx="152400" cy="908050"/>
            </a:xfrm>
            <a:custGeom>
              <a:avLst/>
              <a:gdLst/>
              <a:ahLst/>
              <a:cxnLst/>
              <a:rect l="0" t="0" r="r" b="b"/>
              <a:pathLst>
                <a:path w="96" h="572">
                  <a:moveTo>
                    <a:pt x="15" y="572"/>
                  </a:moveTo>
                  <a:lnTo>
                    <a:pt x="0" y="572"/>
                  </a:lnTo>
                  <a:lnTo>
                    <a:pt x="0" y="189"/>
                  </a:lnTo>
                  <a:lnTo>
                    <a:pt x="81" y="0"/>
                  </a:lnTo>
                  <a:lnTo>
                    <a:pt x="96" y="6"/>
                  </a:lnTo>
                  <a:lnTo>
                    <a:pt x="15" y="192"/>
                  </a:lnTo>
                  <a:lnTo>
                    <a:pt x="15" y="57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26" name="Freeform 20">
              <a:extLst>
                <a:ext uri="{FF2B5EF4-FFF2-40B4-BE49-F238E27FC236}">
                  <a16:creationId xmlns:a16="http://schemas.microsoft.com/office/drawing/2014/main" id="{0F4CE988-2CA1-4875-8419-BC9914E7A90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866775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2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2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27" name="Freeform 21">
              <a:extLst>
                <a:ext uri="{FF2B5EF4-FFF2-40B4-BE49-F238E27FC236}">
                  <a16:creationId xmlns:a16="http://schemas.microsoft.com/office/drawing/2014/main" id="{D5E11DED-8522-4839-A2C5-9D64FBB0312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890588" y="155416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28" name="Freeform 22">
              <a:extLst>
                <a:ext uri="{FF2B5EF4-FFF2-40B4-BE49-F238E27FC236}">
                  <a16:creationId xmlns:a16="http://schemas.microsoft.com/office/drawing/2014/main" id="{3A1EE55C-F160-4A56-ABFE-5EE18FE219C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738188" y="5622925"/>
              <a:ext cx="338138" cy="1216025"/>
            </a:xfrm>
            <a:custGeom>
              <a:avLst/>
              <a:gdLst/>
              <a:ahLst/>
              <a:cxnLst/>
              <a:rect l="0" t="0" r="r" b="b"/>
              <a:pathLst>
                <a:path w="213" h="766">
                  <a:moveTo>
                    <a:pt x="213" y="766"/>
                  </a:moveTo>
                  <a:lnTo>
                    <a:pt x="195" y="766"/>
                  </a:lnTo>
                  <a:lnTo>
                    <a:pt x="195" y="464"/>
                  </a:lnTo>
                  <a:lnTo>
                    <a:pt x="0" y="6"/>
                  </a:lnTo>
                  <a:lnTo>
                    <a:pt x="12" y="0"/>
                  </a:lnTo>
                  <a:lnTo>
                    <a:pt x="213" y="461"/>
                  </a:lnTo>
                  <a:lnTo>
                    <a:pt x="213" y="76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29" name="Freeform 23">
              <a:extLst>
                <a:ext uri="{FF2B5EF4-FFF2-40B4-BE49-F238E27FC236}">
                  <a16:creationId xmlns:a16="http://schemas.microsoft.com/office/drawing/2014/main" id="{519A9CFB-FBD5-4742-9228-976E852BCC6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47700" y="5480050"/>
              <a:ext cx="157163" cy="157163"/>
            </a:xfrm>
            <a:custGeom>
              <a:avLst/>
              <a:gdLst/>
              <a:ahLst/>
              <a:cxnLst/>
              <a:rect l="0" t="0" r="r" b="b"/>
              <a:pathLst>
                <a:path w="33" h="33">
                  <a:moveTo>
                    <a:pt x="17" y="33"/>
                  </a:moveTo>
                  <a:cubicBezTo>
                    <a:pt x="8" y="33"/>
                    <a:pt x="0" y="26"/>
                    <a:pt x="0" y="17"/>
                  </a:cubicBezTo>
                  <a:cubicBezTo>
                    <a:pt x="0" y="8"/>
                    <a:pt x="8" y="0"/>
                    <a:pt x="17" y="0"/>
                  </a:cubicBezTo>
                  <a:cubicBezTo>
                    <a:pt x="26" y="0"/>
                    <a:pt x="33" y="8"/>
                    <a:pt x="33" y="17"/>
                  </a:cubicBezTo>
                  <a:cubicBezTo>
                    <a:pt x="33" y="26"/>
                    <a:pt x="26" y="33"/>
                    <a:pt x="17" y="33"/>
                  </a:cubicBezTo>
                  <a:close/>
                  <a:moveTo>
                    <a:pt x="17" y="4"/>
                  </a:moveTo>
                  <a:cubicBezTo>
                    <a:pt x="10" y="4"/>
                    <a:pt x="4" y="10"/>
                    <a:pt x="4" y="17"/>
                  </a:cubicBezTo>
                  <a:cubicBezTo>
                    <a:pt x="4" y="24"/>
                    <a:pt x="10" y="29"/>
                    <a:pt x="17" y="29"/>
                  </a:cubicBezTo>
                  <a:cubicBezTo>
                    <a:pt x="23" y="29"/>
                    <a:pt x="29" y="24"/>
                    <a:pt x="29" y="17"/>
                  </a:cubicBezTo>
                  <a:cubicBezTo>
                    <a:pt x="29" y="10"/>
                    <a:pt x="23" y="4"/>
                    <a:pt x="17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30" name="Freeform 24">
              <a:extLst>
                <a:ext uri="{FF2B5EF4-FFF2-40B4-BE49-F238E27FC236}">
                  <a16:creationId xmlns:a16="http://schemas.microsoft.com/office/drawing/2014/main" id="{E808A3F5-6663-49E0-B6BB-AFBBCD50874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6675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2" y="0"/>
                    <a:pt x="40" y="9"/>
                    <a:pt x="40" y="20"/>
                  </a:cubicBezTo>
                  <a:cubicBezTo>
                    <a:pt x="40" y="31"/>
                    <a:pt x="32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2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2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31" name="Freeform 25">
              <a:extLst>
                <a:ext uri="{FF2B5EF4-FFF2-40B4-BE49-F238E27FC236}">
                  <a16:creationId xmlns:a16="http://schemas.microsoft.com/office/drawing/2014/main" id="{33A492F1-3A43-47FE-8E3E-4BF2B786494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0" y="3897313"/>
              <a:ext cx="133350" cy="266700"/>
            </a:xfrm>
            <a:custGeom>
              <a:avLst/>
              <a:gdLst/>
              <a:ahLst/>
              <a:cxnLst/>
              <a:rect l="0" t="0" r="r" b="b"/>
              <a:pathLst>
                <a:path w="84" h="168">
                  <a:moveTo>
                    <a:pt x="69" y="168"/>
                  </a:moveTo>
                  <a:lnTo>
                    <a:pt x="0" y="6"/>
                  </a:lnTo>
                  <a:lnTo>
                    <a:pt x="12" y="0"/>
                  </a:lnTo>
                  <a:lnTo>
                    <a:pt x="84" y="162"/>
                  </a:lnTo>
                  <a:lnTo>
                    <a:pt x="69" y="16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32" name="Freeform 26">
              <a:extLst>
                <a:ext uri="{FF2B5EF4-FFF2-40B4-BE49-F238E27FC236}">
                  <a16:creationId xmlns:a16="http://schemas.microsoft.com/office/drawing/2014/main" id="{2ED7DF23-0B1F-4E17-8EC2-1B74D318FB5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6675" y="4149725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33" name="Freeform 27">
              <a:extLst>
                <a:ext uri="{FF2B5EF4-FFF2-40B4-BE49-F238E27FC236}">
                  <a16:creationId xmlns:a16="http://schemas.microsoft.com/office/drawing/2014/main" id="{FE1204BD-7481-4989-957D-B61AEA964A5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0" y="1644650"/>
              <a:ext cx="133350" cy="269875"/>
            </a:xfrm>
            <a:custGeom>
              <a:avLst/>
              <a:gdLst/>
              <a:ahLst/>
              <a:cxnLst/>
              <a:rect l="0" t="0" r="r" b="b"/>
              <a:pathLst>
                <a:path w="84" h="170">
                  <a:moveTo>
                    <a:pt x="12" y="170"/>
                  </a:moveTo>
                  <a:lnTo>
                    <a:pt x="0" y="164"/>
                  </a:lnTo>
                  <a:lnTo>
                    <a:pt x="69" y="0"/>
                  </a:lnTo>
                  <a:lnTo>
                    <a:pt x="84" y="6"/>
                  </a:lnTo>
                  <a:lnTo>
                    <a:pt x="12" y="17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34" name="Freeform 28">
              <a:extLst>
                <a:ext uri="{FF2B5EF4-FFF2-40B4-BE49-F238E27FC236}">
                  <a16:creationId xmlns:a16="http://schemas.microsoft.com/office/drawing/2014/main" id="{DD3C5673-1874-477D-AE35-B37A9197414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6675" y="146843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35" name="Freeform 29">
              <a:extLst>
                <a:ext uri="{FF2B5EF4-FFF2-40B4-BE49-F238E27FC236}">
                  <a16:creationId xmlns:a16="http://schemas.microsoft.com/office/drawing/2014/main" id="{DA963A0C-386F-4A9E-89E8-67081094B92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95325" y="4763"/>
              <a:ext cx="309563" cy="1558925"/>
            </a:xfrm>
            <a:custGeom>
              <a:avLst/>
              <a:gdLst/>
              <a:ahLst/>
              <a:cxnLst/>
              <a:rect l="0" t="0" r="r" b="b"/>
              <a:pathLst>
                <a:path w="195" h="982">
                  <a:moveTo>
                    <a:pt x="195" y="982"/>
                  </a:moveTo>
                  <a:lnTo>
                    <a:pt x="177" y="982"/>
                  </a:lnTo>
                  <a:lnTo>
                    <a:pt x="177" y="805"/>
                  </a:lnTo>
                  <a:lnTo>
                    <a:pt x="0" y="629"/>
                  </a:lnTo>
                  <a:lnTo>
                    <a:pt x="0" y="0"/>
                  </a:lnTo>
                  <a:lnTo>
                    <a:pt x="18" y="0"/>
                  </a:lnTo>
                  <a:lnTo>
                    <a:pt x="18" y="623"/>
                  </a:lnTo>
                  <a:lnTo>
                    <a:pt x="195" y="796"/>
                  </a:lnTo>
                  <a:lnTo>
                    <a:pt x="195" y="98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36" name="Freeform 30">
              <a:extLst>
                <a:ext uri="{FF2B5EF4-FFF2-40B4-BE49-F238E27FC236}">
                  <a16:creationId xmlns:a16="http://schemas.microsoft.com/office/drawing/2014/main" id="{D527BB52-D4EE-4CAA-A8A0-53A27DC7FFD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7150" y="488156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37" name="Freeform 31">
              <a:extLst>
                <a:ext uri="{FF2B5EF4-FFF2-40B4-BE49-F238E27FC236}">
                  <a16:creationId xmlns:a16="http://schemas.microsoft.com/office/drawing/2014/main" id="{2A037511-5E0A-4293-81AB-28C5DC96BF9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38113" y="5060950"/>
              <a:ext cx="304800" cy="1778000"/>
            </a:xfrm>
            <a:custGeom>
              <a:avLst/>
              <a:gdLst/>
              <a:ahLst/>
              <a:cxnLst/>
              <a:rect l="0" t="0" r="r" b="b"/>
              <a:pathLst>
                <a:path w="192" h="1120">
                  <a:moveTo>
                    <a:pt x="192" y="1120"/>
                  </a:moveTo>
                  <a:lnTo>
                    <a:pt x="177" y="1120"/>
                  </a:lnTo>
                  <a:lnTo>
                    <a:pt x="177" y="360"/>
                  </a:lnTo>
                  <a:lnTo>
                    <a:pt x="0" y="183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77"/>
                  </a:lnTo>
                  <a:lnTo>
                    <a:pt x="192" y="354"/>
                  </a:lnTo>
                  <a:lnTo>
                    <a:pt x="192" y="112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38" name="Freeform 32">
              <a:extLst>
                <a:ext uri="{FF2B5EF4-FFF2-40B4-BE49-F238E27FC236}">
                  <a16:creationId xmlns:a16="http://schemas.microsoft.com/office/drawing/2014/main" id="{42A7FE1C-EF14-483B-B5FC-FDC150282A2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61975" y="643096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39" name="Rectangle 33">
              <a:extLst>
                <a:ext uri="{FF2B5EF4-FFF2-40B4-BE49-F238E27FC236}">
                  <a16:creationId xmlns:a16="http://schemas.microsoft.com/office/drawing/2014/main" id="{45A82D49-825B-47BC-8622-A1D54C5C212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ChangeArrowhead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42938" y="6610350"/>
              <a:ext cx="23813" cy="242888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40" name="Freeform 34">
              <a:extLst>
                <a:ext uri="{FF2B5EF4-FFF2-40B4-BE49-F238E27FC236}">
                  <a16:creationId xmlns:a16="http://schemas.microsoft.com/office/drawing/2014/main" id="{039D74A5-B4AF-4800-B941-E5F8CD44E77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76200" y="643096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2" y="0"/>
                    <a:pt x="40" y="9"/>
                    <a:pt x="40" y="20"/>
                  </a:cubicBezTo>
                  <a:cubicBezTo>
                    <a:pt x="40" y="31"/>
                    <a:pt x="32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41" name="Freeform 35">
              <a:extLst>
                <a:ext uri="{FF2B5EF4-FFF2-40B4-BE49-F238E27FC236}">
                  <a16:creationId xmlns:a16="http://schemas.microsoft.com/office/drawing/2014/main" id="{70B5D059-1472-474F-BDE6-881B5D1CD7B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0" y="5978525"/>
              <a:ext cx="190500" cy="461963"/>
            </a:xfrm>
            <a:custGeom>
              <a:avLst/>
              <a:gdLst/>
              <a:ahLst/>
              <a:cxnLst/>
              <a:rect l="0" t="0" r="r" b="b"/>
              <a:pathLst>
                <a:path w="120" h="291">
                  <a:moveTo>
                    <a:pt x="120" y="291"/>
                  </a:moveTo>
                  <a:lnTo>
                    <a:pt x="105" y="291"/>
                  </a:lnTo>
                  <a:lnTo>
                    <a:pt x="105" y="114"/>
                  </a:lnTo>
                  <a:lnTo>
                    <a:pt x="0" y="9"/>
                  </a:lnTo>
                  <a:lnTo>
                    <a:pt x="12" y="0"/>
                  </a:lnTo>
                  <a:lnTo>
                    <a:pt x="120" y="108"/>
                  </a:lnTo>
                  <a:lnTo>
                    <a:pt x="120" y="291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42" name="Freeform 36">
              <a:extLst>
                <a:ext uri="{FF2B5EF4-FFF2-40B4-BE49-F238E27FC236}">
                  <a16:creationId xmlns:a16="http://schemas.microsoft.com/office/drawing/2014/main" id="{736D79CC-81E0-4C87-ABAC-58197ADBDA3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014413" y="1801813"/>
              <a:ext cx="214313" cy="755650"/>
            </a:xfrm>
            <a:custGeom>
              <a:avLst/>
              <a:gdLst/>
              <a:ahLst/>
              <a:cxnLst/>
              <a:rect l="0" t="0" r="r" b="b"/>
              <a:pathLst>
                <a:path w="135" h="476">
                  <a:moveTo>
                    <a:pt x="12" y="476"/>
                  </a:moveTo>
                  <a:lnTo>
                    <a:pt x="0" y="476"/>
                  </a:lnTo>
                  <a:lnTo>
                    <a:pt x="0" y="128"/>
                  </a:lnTo>
                  <a:lnTo>
                    <a:pt x="126" y="0"/>
                  </a:lnTo>
                  <a:lnTo>
                    <a:pt x="135" y="9"/>
                  </a:lnTo>
                  <a:lnTo>
                    <a:pt x="12" y="131"/>
                  </a:lnTo>
                  <a:lnTo>
                    <a:pt x="12" y="47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43" name="Freeform 37">
              <a:extLst>
                <a:ext uri="{FF2B5EF4-FFF2-40B4-BE49-F238E27FC236}">
                  <a16:creationId xmlns:a16="http://schemas.microsoft.com/office/drawing/2014/main" id="{7E72BA97-1228-4006-B095-8D9FB45FB14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938213" y="2547938"/>
              <a:ext cx="166688" cy="160338"/>
            </a:xfrm>
            <a:custGeom>
              <a:avLst/>
              <a:gdLst/>
              <a:ahLst/>
              <a:cxnLst/>
              <a:rect l="0" t="0" r="r" b="b"/>
              <a:pathLst>
                <a:path w="35" h="34">
                  <a:moveTo>
                    <a:pt x="18" y="34"/>
                  </a:moveTo>
                  <a:cubicBezTo>
                    <a:pt x="8" y="34"/>
                    <a:pt x="0" y="26"/>
                    <a:pt x="0" y="17"/>
                  </a:cubicBezTo>
                  <a:cubicBezTo>
                    <a:pt x="0" y="7"/>
                    <a:pt x="8" y="0"/>
                    <a:pt x="18" y="0"/>
                  </a:cubicBezTo>
                  <a:cubicBezTo>
                    <a:pt x="27" y="0"/>
                    <a:pt x="35" y="7"/>
                    <a:pt x="35" y="17"/>
                  </a:cubicBezTo>
                  <a:cubicBezTo>
                    <a:pt x="35" y="26"/>
                    <a:pt x="27" y="34"/>
                    <a:pt x="18" y="34"/>
                  </a:cubicBezTo>
                  <a:close/>
                  <a:moveTo>
                    <a:pt x="18" y="4"/>
                  </a:moveTo>
                  <a:cubicBezTo>
                    <a:pt x="10" y="4"/>
                    <a:pt x="4" y="10"/>
                    <a:pt x="4" y="17"/>
                  </a:cubicBezTo>
                  <a:cubicBezTo>
                    <a:pt x="4" y="24"/>
                    <a:pt x="10" y="30"/>
                    <a:pt x="18" y="30"/>
                  </a:cubicBezTo>
                  <a:cubicBezTo>
                    <a:pt x="25" y="30"/>
                    <a:pt x="31" y="24"/>
                    <a:pt x="31" y="17"/>
                  </a:cubicBezTo>
                  <a:cubicBezTo>
                    <a:pt x="31" y="10"/>
                    <a:pt x="25" y="4"/>
                    <a:pt x="18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44" name="Freeform 38">
              <a:extLst>
                <a:ext uri="{FF2B5EF4-FFF2-40B4-BE49-F238E27FC236}">
                  <a16:creationId xmlns:a16="http://schemas.microsoft.com/office/drawing/2014/main" id="{36FA3A99-37FB-4B03-A810-425BC9B3793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95313" y="4763"/>
              <a:ext cx="638175" cy="4025900"/>
            </a:xfrm>
            <a:custGeom>
              <a:avLst/>
              <a:gdLst/>
              <a:ahLst/>
              <a:cxnLst/>
              <a:rect l="0" t="0" r="r" b="b"/>
              <a:pathLst>
                <a:path w="402" h="2536">
                  <a:moveTo>
                    <a:pt x="402" y="2536"/>
                  </a:moveTo>
                  <a:lnTo>
                    <a:pt x="387" y="2536"/>
                  </a:lnTo>
                  <a:lnTo>
                    <a:pt x="387" y="2311"/>
                  </a:lnTo>
                  <a:lnTo>
                    <a:pt x="0" y="1925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916"/>
                  </a:lnTo>
                  <a:lnTo>
                    <a:pt x="402" y="2302"/>
                  </a:lnTo>
                  <a:lnTo>
                    <a:pt x="402" y="253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45" name="Freeform 39">
              <a:extLst>
                <a:ext uri="{FF2B5EF4-FFF2-40B4-BE49-F238E27FC236}">
                  <a16:creationId xmlns:a16="http://schemas.microsoft.com/office/drawing/2014/main" id="{2E45B959-2AD5-4FE4-BF6A-4F011011CFA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223963" y="1382713"/>
              <a:ext cx="142875" cy="476250"/>
            </a:xfrm>
            <a:custGeom>
              <a:avLst/>
              <a:gdLst/>
              <a:ahLst/>
              <a:cxnLst/>
              <a:rect l="0" t="0" r="r" b="b"/>
              <a:pathLst>
                <a:path w="90" h="300">
                  <a:moveTo>
                    <a:pt x="90" y="300"/>
                  </a:moveTo>
                  <a:lnTo>
                    <a:pt x="78" y="300"/>
                  </a:lnTo>
                  <a:lnTo>
                    <a:pt x="78" y="84"/>
                  </a:lnTo>
                  <a:lnTo>
                    <a:pt x="0" y="9"/>
                  </a:lnTo>
                  <a:lnTo>
                    <a:pt x="9" y="0"/>
                  </a:lnTo>
                  <a:lnTo>
                    <a:pt x="90" y="81"/>
                  </a:lnTo>
                  <a:lnTo>
                    <a:pt x="90" y="30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46" name="Freeform 40">
              <a:extLst>
                <a:ext uri="{FF2B5EF4-FFF2-40B4-BE49-F238E27FC236}">
                  <a16:creationId xmlns:a16="http://schemas.microsoft.com/office/drawing/2014/main" id="{CEE29A17-924F-4EED-A18C-E6A0137E52E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300163" y="1849438"/>
              <a:ext cx="109538" cy="107950"/>
            </a:xfrm>
            <a:custGeom>
              <a:avLst/>
              <a:gdLst/>
              <a:ahLst/>
              <a:cxnLst/>
              <a:rect l="0" t="0" r="r" b="b"/>
              <a:pathLst>
                <a:path w="23" h="23">
                  <a:moveTo>
                    <a:pt x="12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2" y="0"/>
                  </a:cubicBezTo>
                  <a:cubicBezTo>
                    <a:pt x="18" y="0"/>
                    <a:pt x="23" y="5"/>
                    <a:pt x="23" y="12"/>
                  </a:cubicBezTo>
                  <a:cubicBezTo>
                    <a:pt x="23" y="18"/>
                    <a:pt x="18" y="23"/>
                    <a:pt x="12" y="23"/>
                  </a:cubicBezTo>
                  <a:close/>
                  <a:moveTo>
                    <a:pt x="12" y="4"/>
                  </a:moveTo>
                  <a:cubicBezTo>
                    <a:pt x="8" y="4"/>
                    <a:pt x="4" y="8"/>
                    <a:pt x="4" y="12"/>
                  </a:cubicBezTo>
                  <a:cubicBezTo>
                    <a:pt x="4" y="16"/>
                    <a:pt x="8" y="19"/>
                    <a:pt x="12" y="19"/>
                  </a:cubicBezTo>
                  <a:cubicBezTo>
                    <a:pt x="16" y="19"/>
                    <a:pt x="19" y="16"/>
                    <a:pt x="19" y="12"/>
                  </a:cubicBezTo>
                  <a:cubicBezTo>
                    <a:pt x="19" y="8"/>
                    <a:pt x="16" y="4"/>
                    <a:pt x="12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47" name="Freeform 41">
              <a:extLst>
                <a:ext uri="{FF2B5EF4-FFF2-40B4-BE49-F238E27FC236}">
                  <a16:creationId xmlns:a16="http://schemas.microsoft.com/office/drawing/2014/main" id="{EFB8BDF1-3A59-4EE5-BFAB-4F4B301E37C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80988" y="3417888"/>
              <a:ext cx="142875" cy="474663"/>
            </a:xfrm>
            <a:custGeom>
              <a:avLst/>
              <a:gdLst/>
              <a:ahLst/>
              <a:cxnLst/>
              <a:rect l="0" t="0" r="r" b="b"/>
              <a:pathLst>
                <a:path w="90" h="299">
                  <a:moveTo>
                    <a:pt x="12" y="299"/>
                  </a:moveTo>
                  <a:lnTo>
                    <a:pt x="0" y="299"/>
                  </a:lnTo>
                  <a:lnTo>
                    <a:pt x="0" y="80"/>
                  </a:lnTo>
                  <a:lnTo>
                    <a:pt x="81" y="0"/>
                  </a:lnTo>
                  <a:lnTo>
                    <a:pt x="90" y="8"/>
                  </a:lnTo>
                  <a:lnTo>
                    <a:pt x="12" y="83"/>
                  </a:lnTo>
                  <a:lnTo>
                    <a:pt x="12" y="299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48" name="Freeform 42">
              <a:extLst>
                <a:ext uri="{FF2B5EF4-FFF2-40B4-BE49-F238E27FC236}">
                  <a16:creationId xmlns:a16="http://schemas.microsoft.com/office/drawing/2014/main" id="{8F94E417-93B4-4071-A6D1-AE66CA68229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38125" y="3883025"/>
              <a:ext cx="109538" cy="109538"/>
            </a:xfrm>
            <a:custGeom>
              <a:avLst/>
              <a:gdLst/>
              <a:ahLst/>
              <a:cxnLst/>
              <a:rect l="0" t="0" r="r" b="b"/>
              <a:pathLst>
                <a:path w="23" h="23">
                  <a:moveTo>
                    <a:pt x="11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1" y="0"/>
                  </a:cubicBezTo>
                  <a:cubicBezTo>
                    <a:pt x="17" y="0"/>
                    <a:pt x="23" y="5"/>
                    <a:pt x="23" y="12"/>
                  </a:cubicBezTo>
                  <a:cubicBezTo>
                    <a:pt x="23" y="18"/>
                    <a:pt x="17" y="23"/>
                    <a:pt x="11" y="23"/>
                  </a:cubicBezTo>
                  <a:close/>
                  <a:moveTo>
                    <a:pt x="11" y="4"/>
                  </a:moveTo>
                  <a:cubicBezTo>
                    <a:pt x="7" y="4"/>
                    <a:pt x="4" y="8"/>
                    <a:pt x="4" y="12"/>
                  </a:cubicBezTo>
                  <a:cubicBezTo>
                    <a:pt x="4" y="16"/>
                    <a:pt x="7" y="19"/>
                    <a:pt x="11" y="19"/>
                  </a:cubicBezTo>
                  <a:cubicBezTo>
                    <a:pt x="15" y="19"/>
                    <a:pt x="19" y="16"/>
                    <a:pt x="19" y="12"/>
                  </a:cubicBezTo>
                  <a:cubicBezTo>
                    <a:pt x="19" y="8"/>
                    <a:pt x="15" y="4"/>
                    <a:pt x="11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49" name="Freeform 43">
              <a:extLst>
                <a:ext uri="{FF2B5EF4-FFF2-40B4-BE49-F238E27FC236}">
                  <a16:creationId xmlns:a16="http://schemas.microsoft.com/office/drawing/2014/main" id="{A18F44A8-385D-4EB4-A013-7EB252A275E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4763" y="2166938"/>
              <a:ext cx="114300" cy="452438"/>
            </a:xfrm>
            <a:custGeom>
              <a:avLst/>
              <a:gdLst/>
              <a:ahLst/>
              <a:cxnLst/>
              <a:rect l="0" t="0" r="r" b="b"/>
              <a:pathLst>
                <a:path w="72" h="285">
                  <a:moveTo>
                    <a:pt x="6" y="285"/>
                  </a:moveTo>
                  <a:lnTo>
                    <a:pt x="0" y="276"/>
                  </a:lnTo>
                  <a:lnTo>
                    <a:pt x="60" y="216"/>
                  </a:lnTo>
                  <a:lnTo>
                    <a:pt x="60" y="0"/>
                  </a:lnTo>
                  <a:lnTo>
                    <a:pt x="72" y="0"/>
                  </a:lnTo>
                  <a:lnTo>
                    <a:pt x="72" y="222"/>
                  </a:lnTo>
                  <a:lnTo>
                    <a:pt x="6" y="28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50" name="Freeform 44">
              <a:extLst>
                <a:ext uri="{FF2B5EF4-FFF2-40B4-BE49-F238E27FC236}">
                  <a16:creationId xmlns:a16="http://schemas.microsoft.com/office/drawing/2014/main" id="{B25FB320-9784-4EA9-B1AE-3BF9106E6E0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2388" y="2066925"/>
              <a:ext cx="109538" cy="109538"/>
            </a:xfrm>
            <a:custGeom>
              <a:avLst/>
              <a:gdLst/>
              <a:ahLst/>
              <a:cxnLst/>
              <a:rect l="0" t="0" r="r" b="b"/>
              <a:pathLst>
                <a:path w="23" h="23">
                  <a:moveTo>
                    <a:pt x="12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2" y="0"/>
                  </a:cubicBezTo>
                  <a:cubicBezTo>
                    <a:pt x="18" y="0"/>
                    <a:pt x="23" y="5"/>
                    <a:pt x="23" y="12"/>
                  </a:cubicBezTo>
                  <a:cubicBezTo>
                    <a:pt x="23" y="18"/>
                    <a:pt x="18" y="23"/>
                    <a:pt x="12" y="23"/>
                  </a:cubicBezTo>
                  <a:close/>
                  <a:moveTo>
                    <a:pt x="12" y="4"/>
                  </a:moveTo>
                  <a:cubicBezTo>
                    <a:pt x="8" y="4"/>
                    <a:pt x="4" y="8"/>
                    <a:pt x="4" y="12"/>
                  </a:cubicBezTo>
                  <a:cubicBezTo>
                    <a:pt x="4" y="16"/>
                    <a:pt x="8" y="19"/>
                    <a:pt x="12" y="19"/>
                  </a:cubicBezTo>
                  <a:cubicBezTo>
                    <a:pt x="16" y="19"/>
                    <a:pt x="19" y="16"/>
                    <a:pt x="19" y="12"/>
                  </a:cubicBezTo>
                  <a:cubicBezTo>
                    <a:pt x="19" y="8"/>
                    <a:pt x="16" y="4"/>
                    <a:pt x="12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51" name="Rectangle 45">
              <a:extLst>
                <a:ext uri="{FF2B5EF4-FFF2-40B4-BE49-F238E27FC236}">
                  <a16:creationId xmlns:a16="http://schemas.microsoft.com/office/drawing/2014/main" id="{C9EB05E6-5BE4-4EE1-9F0C-E8B57B362EA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ChangeArrowhead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228725" y="4662488"/>
              <a:ext cx="23813" cy="218122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52" name="Freeform 46">
              <a:extLst>
                <a:ext uri="{FF2B5EF4-FFF2-40B4-BE49-F238E27FC236}">
                  <a16:creationId xmlns:a16="http://schemas.microsoft.com/office/drawing/2014/main" id="{C66CAA98-15DB-4EF7-B2CA-54F523A3C76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319213" y="5041900"/>
              <a:ext cx="371475" cy="1801813"/>
            </a:xfrm>
            <a:custGeom>
              <a:avLst/>
              <a:gdLst/>
              <a:ahLst/>
              <a:cxnLst/>
              <a:rect l="0" t="0" r="r" b="b"/>
              <a:pathLst>
                <a:path w="234" h="1135">
                  <a:moveTo>
                    <a:pt x="15" y="1135"/>
                  </a:moveTo>
                  <a:lnTo>
                    <a:pt x="0" y="1135"/>
                  </a:lnTo>
                  <a:lnTo>
                    <a:pt x="0" y="515"/>
                  </a:lnTo>
                  <a:lnTo>
                    <a:pt x="0" y="512"/>
                  </a:lnTo>
                  <a:lnTo>
                    <a:pt x="219" y="0"/>
                  </a:lnTo>
                  <a:lnTo>
                    <a:pt x="234" y="6"/>
                  </a:lnTo>
                  <a:lnTo>
                    <a:pt x="15" y="518"/>
                  </a:lnTo>
                  <a:lnTo>
                    <a:pt x="15" y="113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53" name="Freeform 47">
              <a:extLst>
                <a:ext uri="{FF2B5EF4-FFF2-40B4-BE49-F238E27FC236}">
                  <a16:creationId xmlns:a16="http://schemas.microsoft.com/office/drawing/2014/main" id="{7A30C330-EB27-4D08-82D2-7311A8505E7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47763" y="44815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54" name="Freeform 48">
              <a:extLst>
                <a:ext uri="{FF2B5EF4-FFF2-40B4-BE49-F238E27FC236}">
                  <a16:creationId xmlns:a16="http://schemas.microsoft.com/office/drawing/2014/main" id="{285C54D0-DCD8-43CD-AE6D-00487565C14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819150" y="3983038"/>
              <a:ext cx="347663" cy="2860675"/>
            </a:xfrm>
            <a:custGeom>
              <a:avLst/>
              <a:gdLst/>
              <a:ahLst/>
              <a:cxnLst/>
              <a:rect l="0" t="0" r="r" b="b"/>
              <a:pathLst>
                <a:path w="219" h="1802">
                  <a:moveTo>
                    <a:pt x="219" y="1802"/>
                  </a:moveTo>
                  <a:lnTo>
                    <a:pt x="201" y="1802"/>
                  </a:lnTo>
                  <a:lnTo>
                    <a:pt x="201" y="1185"/>
                  </a:lnTo>
                  <a:lnTo>
                    <a:pt x="0" y="3"/>
                  </a:lnTo>
                  <a:lnTo>
                    <a:pt x="15" y="0"/>
                  </a:lnTo>
                  <a:lnTo>
                    <a:pt x="219" y="1185"/>
                  </a:lnTo>
                  <a:lnTo>
                    <a:pt x="219" y="180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55" name="Freeform 49">
              <a:extLst>
                <a:ext uri="{FF2B5EF4-FFF2-40B4-BE49-F238E27FC236}">
                  <a16:creationId xmlns:a16="http://schemas.microsoft.com/office/drawing/2014/main" id="{BC525C34-0A4A-4042-8FA3-F64A115AEA6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728663" y="3806825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56" name="Freeform 50">
              <a:extLst>
                <a:ext uri="{FF2B5EF4-FFF2-40B4-BE49-F238E27FC236}">
                  <a16:creationId xmlns:a16="http://schemas.microsoft.com/office/drawing/2014/main" id="{870751A2-DBE9-4631-86D3-800E7749160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624013" y="4867275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57" name="Freeform 51">
              <a:extLst>
                <a:ext uri="{FF2B5EF4-FFF2-40B4-BE49-F238E27FC236}">
                  <a16:creationId xmlns:a16="http://schemas.microsoft.com/office/drawing/2014/main" id="{ED6D7806-3E23-488D-80ED-281D3DA7202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404938" y="5422900"/>
              <a:ext cx="371475" cy="1425575"/>
            </a:xfrm>
            <a:custGeom>
              <a:avLst/>
              <a:gdLst/>
              <a:ahLst/>
              <a:cxnLst/>
              <a:rect l="0" t="0" r="r" b="b"/>
              <a:pathLst>
                <a:path w="234" h="898">
                  <a:moveTo>
                    <a:pt x="18" y="898"/>
                  </a:moveTo>
                  <a:lnTo>
                    <a:pt x="0" y="898"/>
                  </a:lnTo>
                  <a:lnTo>
                    <a:pt x="0" y="515"/>
                  </a:lnTo>
                  <a:lnTo>
                    <a:pt x="0" y="512"/>
                  </a:lnTo>
                  <a:lnTo>
                    <a:pt x="222" y="0"/>
                  </a:lnTo>
                  <a:lnTo>
                    <a:pt x="234" y="6"/>
                  </a:lnTo>
                  <a:lnTo>
                    <a:pt x="18" y="518"/>
                  </a:lnTo>
                  <a:lnTo>
                    <a:pt x="18" y="89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58" name="Freeform 52">
              <a:extLst>
                <a:ext uri="{FF2B5EF4-FFF2-40B4-BE49-F238E27FC236}">
                  <a16:creationId xmlns:a16="http://schemas.microsoft.com/office/drawing/2014/main" id="{170E0895-F9C9-44BA-AF81-F7938C7E4F2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666875" y="5945188"/>
              <a:ext cx="152400" cy="912813"/>
            </a:xfrm>
            <a:custGeom>
              <a:avLst/>
              <a:gdLst/>
              <a:ahLst/>
              <a:cxnLst/>
              <a:rect l="0" t="0" r="r" b="b"/>
              <a:pathLst>
                <a:path w="96" h="575">
                  <a:moveTo>
                    <a:pt x="15" y="575"/>
                  </a:moveTo>
                  <a:lnTo>
                    <a:pt x="0" y="569"/>
                  </a:lnTo>
                  <a:lnTo>
                    <a:pt x="81" y="383"/>
                  </a:lnTo>
                  <a:lnTo>
                    <a:pt x="81" y="0"/>
                  </a:lnTo>
                  <a:lnTo>
                    <a:pt x="96" y="0"/>
                  </a:lnTo>
                  <a:lnTo>
                    <a:pt x="96" y="386"/>
                  </a:lnTo>
                  <a:lnTo>
                    <a:pt x="15" y="57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59" name="Freeform 53">
              <a:extLst>
                <a:ext uri="{FF2B5EF4-FFF2-40B4-BE49-F238E27FC236}">
                  <a16:creationId xmlns:a16="http://schemas.microsoft.com/office/drawing/2014/main" id="{75AD3DD3-BD4A-4DD9-9AC1-C60E3417440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709738" y="52466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60" name="Freeform 54">
              <a:extLst>
                <a:ext uri="{FF2B5EF4-FFF2-40B4-BE49-F238E27FC236}">
                  <a16:creationId xmlns:a16="http://schemas.microsoft.com/office/drawing/2014/main" id="{D047B55E-0847-4696-8101-A643C3C7E91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709738" y="57642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61" name="Freeform 55">
              <a:extLst>
                <a:ext uri="{FF2B5EF4-FFF2-40B4-BE49-F238E27FC236}">
                  <a16:creationId xmlns:a16="http://schemas.microsoft.com/office/drawing/2014/main" id="{CB3EF1DB-37BD-463B-A542-7AA57DC9FE8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766888" y="6330950"/>
              <a:ext cx="419100" cy="527050"/>
            </a:xfrm>
            <a:custGeom>
              <a:avLst/>
              <a:gdLst/>
              <a:ahLst/>
              <a:cxnLst/>
              <a:rect l="0" t="0" r="r" b="b"/>
              <a:pathLst>
                <a:path w="264" h="332">
                  <a:moveTo>
                    <a:pt x="12" y="332"/>
                  </a:moveTo>
                  <a:lnTo>
                    <a:pt x="0" y="326"/>
                  </a:lnTo>
                  <a:lnTo>
                    <a:pt x="45" y="206"/>
                  </a:lnTo>
                  <a:lnTo>
                    <a:pt x="255" y="0"/>
                  </a:lnTo>
                  <a:lnTo>
                    <a:pt x="264" y="12"/>
                  </a:lnTo>
                  <a:lnTo>
                    <a:pt x="60" y="215"/>
                  </a:lnTo>
                  <a:lnTo>
                    <a:pt x="12" y="33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62" name="Freeform 56">
              <a:extLst>
                <a:ext uri="{FF2B5EF4-FFF2-40B4-BE49-F238E27FC236}">
                  <a16:creationId xmlns:a16="http://schemas.microsoft.com/office/drawing/2014/main" id="{95D0E013-2F18-4248-9D83-3BFF25A05CD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147888" y="6221413"/>
              <a:ext cx="157163" cy="147638"/>
            </a:xfrm>
            <a:custGeom>
              <a:avLst/>
              <a:gdLst/>
              <a:ahLst/>
              <a:cxnLst/>
              <a:rect l="0" t="0" r="r" b="b"/>
              <a:pathLst>
                <a:path w="33" h="31">
                  <a:moveTo>
                    <a:pt x="16" y="31"/>
                  </a:moveTo>
                  <a:cubicBezTo>
                    <a:pt x="12" y="31"/>
                    <a:pt x="8" y="29"/>
                    <a:pt x="5" y="26"/>
                  </a:cubicBezTo>
                  <a:cubicBezTo>
                    <a:pt x="2" y="24"/>
                    <a:pt x="0" y="20"/>
                    <a:pt x="0" y="15"/>
                  </a:cubicBezTo>
                  <a:cubicBezTo>
                    <a:pt x="0" y="11"/>
                    <a:pt x="2" y="7"/>
                    <a:pt x="5" y="4"/>
                  </a:cubicBezTo>
                  <a:cubicBezTo>
                    <a:pt x="8" y="1"/>
                    <a:pt x="12" y="0"/>
                    <a:pt x="16" y="0"/>
                  </a:cubicBezTo>
                  <a:cubicBezTo>
                    <a:pt x="20" y="0"/>
                    <a:pt x="24" y="1"/>
                    <a:pt x="27" y="4"/>
                  </a:cubicBezTo>
                  <a:cubicBezTo>
                    <a:pt x="33" y="10"/>
                    <a:pt x="33" y="20"/>
                    <a:pt x="27" y="26"/>
                  </a:cubicBezTo>
                  <a:cubicBezTo>
                    <a:pt x="24" y="29"/>
                    <a:pt x="20" y="31"/>
                    <a:pt x="16" y="31"/>
                  </a:cubicBezTo>
                  <a:close/>
                  <a:moveTo>
                    <a:pt x="16" y="4"/>
                  </a:moveTo>
                  <a:cubicBezTo>
                    <a:pt x="13" y="4"/>
                    <a:pt x="10" y="5"/>
                    <a:pt x="8" y="7"/>
                  </a:cubicBezTo>
                  <a:cubicBezTo>
                    <a:pt x="6" y="9"/>
                    <a:pt x="4" y="12"/>
                    <a:pt x="4" y="15"/>
                  </a:cubicBezTo>
                  <a:cubicBezTo>
                    <a:pt x="4" y="19"/>
                    <a:pt x="6" y="21"/>
                    <a:pt x="8" y="24"/>
                  </a:cubicBezTo>
                  <a:cubicBezTo>
                    <a:pt x="10" y="26"/>
                    <a:pt x="13" y="27"/>
                    <a:pt x="16" y="27"/>
                  </a:cubicBezTo>
                  <a:cubicBezTo>
                    <a:pt x="19" y="27"/>
                    <a:pt x="22" y="26"/>
                    <a:pt x="24" y="24"/>
                  </a:cubicBezTo>
                  <a:cubicBezTo>
                    <a:pt x="29" y="19"/>
                    <a:pt x="29" y="12"/>
                    <a:pt x="24" y="7"/>
                  </a:cubicBezTo>
                  <a:cubicBezTo>
                    <a:pt x="22" y="5"/>
                    <a:pt x="19" y="4"/>
                    <a:pt x="16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63" name="Freeform 57">
              <a:extLst>
                <a:ext uri="{FF2B5EF4-FFF2-40B4-BE49-F238E27FC236}">
                  <a16:creationId xmlns:a16="http://schemas.microsoft.com/office/drawing/2014/main" id="{E7D95722-3A1F-4917-8C16-D4D40994165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04825" y="9525"/>
              <a:ext cx="233363" cy="5103813"/>
            </a:xfrm>
            <a:custGeom>
              <a:avLst/>
              <a:gdLst/>
              <a:ahLst/>
              <a:cxnLst/>
              <a:rect l="0" t="0" r="r" b="b"/>
              <a:pathLst>
                <a:path w="147" h="3215">
                  <a:moveTo>
                    <a:pt x="132" y="3215"/>
                  </a:moveTo>
                  <a:lnTo>
                    <a:pt x="129" y="2754"/>
                  </a:lnTo>
                  <a:lnTo>
                    <a:pt x="0" y="1901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898"/>
                  </a:lnTo>
                  <a:lnTo>
                    <a:pt x="144" y="2754"/>
                  </a:lnTo>
                  <a:lnTo>
                    <a:pt x="147" y="3215"/>
                  </a:lnTo>
                  <a:lnTo>
                    <a:pt x="132" y="321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64" name="Freeform 58">
              <a:extLst>
                <a:ext uri="{FF2B5EF4-FFF2-40B4-BE49-F238E27FC236}">
                  <a16:creationId xmlns:a16="http://schemas.microsoft.com/office/drawing/2014/main" id="{A54912BE-A961-4720-992C-09A2D13DE2B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33413" y="5103813"/>
              <a:ext cx="185738" cy="185738"/>
            </a:xfrm>
            <a:custGeom>
              <a:avLst/>
              <a:gdLst/>
              <a:ahLst/>
              <a:cxnLst/>
              <a:rect l="0" t="0" r="r" b="b"/>
              <a:pathLst>
                <a:path w="39" h="39">
                  <a:moveTo>
                    <a:pt x="20" y="39"/>
                  </a:moveTo>
                  <a:cubicBezTo>
                    <a:pt x="9" y="39"/>
                    <a:pt x="0" y="30"/>
                    <a:pt x="0" y="19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0" y="0"/>
                    <a:pt x="39" y="9"/>
                    <a:pt x="39" y="19"/>
                  </a:cubicBezTo>
                  <a:cubicBezTo>
                    <a:pt x="39" y="30"/>
                    <a:pt x="30" y="39"/>
                    <a:pt x="20" y="39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19"/>
                  </a:cubicBezTo>
                  <a:cubicBezTo>
                    <a:pt x="4" y="28"/>
                    <a:pt x="11" y="35"/>
                    <a:pt x="20" y="35"/>
                  </a:cubicBezTo>
                  <a:cubicBezTo>
                    <a:pt x="28" y="35"/>
                    <a:pt x="35" y="28"/>
                    <a:pt x="35" y="19"/>
                  </a:cubicBezTo>
                  <a:cubicBezTo>
                    <a:pt x="35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</p:grpSp>
      <p:sp useBgFill="1">
        <p:nvSpPr>
          <p:cNvPr id="66" name="Round Diagonal Corner Rectangle 7">
            <a:extLst>
              <a:ext uri="{FF2B5EF4-FFF2-40B4-BE49-F238E27FC236}">
                <a16:creationId xmlns:a16="http://schemas.microsoft.com/office/drawing/2014/main" id="{FF5E4228-419E-44B9-B090-94A9540E5B3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059079" y="0"/>
            <a:ext cx="8132922" cy="6848476"/>
          </a:xfrm>
          <a:prstGeom prst="round2DiagRect">
            <a:avLst>
              <a:gd name="adj1" fmla="val 0"/>
              <a:gd name="adj2" fmla="val 0"/>
            </a:avLst>
          </a:prstGeom>
          <a:ln w="19050" cap="sq">
            <a:noFill/>
            <a:miter lim="800000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1F212D4-C6B7-7154-37A6-107E793F14F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654296" y="963613"/>
            <a:ext cx="6013703" cy="4149724"/>
          </a:xfrm>
        </p:spPr>
        <p:txBody>
          <a:bodyPr anchor="ctr">
            <a:normAutofit/>
          </a:bodyPr>
          <a:lstStyle/>
          <a:p>
            <a:r>
              <a:rPr lang="en-US" sz="5600"/>
              <a:t>Data Visualization and Reports with Rmarkdown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5BB4ABF-A1DE-1DD2-362D-9E847D6E9FA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180571" y="963612"/>
            <a:ext cx="2502269" cy="4149725"/>
          </a:xfrm>
        </p:spPr>
        <p:txBody>
          <a:bodyPr anchor="ctr">
            <a:normAutofit/>
          </a:bodyPr>
          <a:lstStyle/>
          <a:p>
            <a:pPr algn="r"/>
            <a:r>
              <a:rPr lang="en-US">
                <a:solidFill>
                  <a:schemeClr val="tx1"/>
                </a:solidFill>
              </a:rPr>
              <a:t>SERC Summer Data Science Series</a:t>
            </a:r>
          </a:p>
        </p:txBody>
      </p:sp>
    </p:spTree>
    <p:extLst>
      <p:ext uri="{BB962C8B-B14F-4D97-AF65-F5344CB8AC3E}">
        <p14:creationId xmlns:p14="http://schemas.microsoft.com/office/powerpoint/2010/main" val="15912538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F26FC78-8846-05C1-73EE-0F73E23BEA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Science is for sharing!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2CF0005-9EEA-F2F1-9CC9-F29FE2A4290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Great tools exist that can help share our science digitally and support:</a:t>
            </a:r>
          </a:p>
          <a:p>
            <a:r>
              <a:rPr lang="en-US" dirty="0"/>
              <a:t>Summarizing findings for short term projects or tracking data produced by long term projects</a:t>
            </a:r>
          </a:p>
          <a:p>
            <a:r>
              <a:rPr lang="en-US" dirty="0"/>
              <a:t>Communicating data to different audiences: yourself, collaborators, stakeholders, funders, the general public</a:t>
            </a:r>
          </a:p>
          <a:p>
            <a:r>
              <a:rPr lang="en-US" dirty="0"/>
              <a:t>Generating reports in a variety of shareable formats</a:t>
            </a:r>
          </a:p>
        </p:txBody>
      </p:sp>
    </p:spTree>
    <p:extLst>
      <p:ext uri="{BB962C8B-B14F-4D97-AF65-F5344CB8AC3E}">
        <p14:creationId xmlns:p14="http://schemas.microsoft.com/office/powerpoint/2010/main" val="80193537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D349036-8C28-46CA-ED56-7EBFB908FF1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Rmarkdown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0135AC7-4CFB-13AF-DC09-AB9C53B5E0A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41412" y="2249486"/>
            <a:ext cx="6687853" cy="3989995"/>
          </a:xfrm>
        </p:spPr>
        <p:txBody>
          <a:bodyPr/>
          <a:lstStyle/>
          <a:p>
            <a:r>
              <a:rPr lang="en-US" dirty="0"/>
              <a:t>What it is: An authoring framework for data science. This notebook interface allows for technical publishing (for reports, websites, books, and more!)</a:t>
            </a:r>
          </a:p>
          <a:p>
            <a:r>
              <a:rPr lang="en-US" dirty="0"/>
              <a:t>What does it contain?</a:t>
            </a:r>
          </a:p>
          <a:p>
            <a:pPr lvl="1"/>
            <a:r>
              <a:rPr lang="en-US" dirty="0"/>
              <a:t>YAML header (metadata)</a:t>
            </a:r>
          </a:p>
          <a:p>
            <a:pPr lvl="1"/>
            <a:r>
              <a:rPr lang="en-US" dirty="0"/>
              <a:t>Code Chunks</a:t>
            </a:r>
          </a:p>
          <a:p>
            <a:pPr lvl="1"/>
            <a:r>
              <a:rPr lang="en-US" dirty="0"/>
              <a:t>Text (with some simple text formatting)</a:t>
            </a:r>
          </a:p>
          <a:p>
            <a:endParaRPr lang="en-US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FF3C6667-10F0-B127-3252-74E7A76BAD19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r="48317"/>
          <a:stretch/>
        </p:blipFill>
        <p:spPr>
          <a:xfrm>
            <a:off x="7829266" y="1667034"/>
            <a:ext cx="4016991" cy="47066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2026914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79140F9-5665-6467-5E85-44607E4FCD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is </a:t>
            </a:r>
            <a:r>
              <a:rPr lang="en-US" dirty="0" err="1"/>
              <a:t>Rmarkdown</a:t>
            </a:r>
            <a:r>
              <a:rPr lang="en-US" dirty="0"/>
              <a:t> good for?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45AC962-006D-7ED9-2A98-9DCAAC8A2AA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Reproducible output</a:t>
            </a:r>
          </a:p>
          <a:p>
            <a:r>
              <a:rPr lang="en-US" dirty="0"/>
              <a:t>Capable of automation</a:t>
            </a:r>
          </a:p>
          <a:p>
            <a:r>
              <a:rPr lang="en-US" dirty="0"/>
              <a:t>Documents are both customizable and generalizable</a:t>
            </a:r>
          </a:p>
          <a:p>
            <a:r>
              <a:rPr lang="en-US" dirty="0"/>
              <a:t>Allow for narrative text and code-generated graphics to be woven together</a:t>
            </a:r>
          </a:p>
          <a:p>
            <a:r>
              <a:rPr lang="en-US" dirty="0"/>
              <a:t>Generation of high-quality, elegant reports</a:t>
            </a:r>
          </a:p>
          <a:p>
            <a:r>
              <a:rPr lang="en-US" dirty="0"/>
              <a:t>Access! Supports a variety of shareable static and dynamic output formats: PDFs, HTML, shiny apps, books (</a:t>
            </a:r>
            <a:r>
              <a:rPr lang="en-US" dirty="0" err="1"/>
              <a:t>Bookdown</a:t>
            </a:r>
            <a:r>
              <a:rPr lang="en-US" dirty="0"/>
              <a:t>), websites (GitHub Pages)</a:t>
            </a:r>
          </a:p>
        </p:txBody>
      </p:sp>
    </p:spTree>
    <p:extLst>
      <p:ext uri="{BB962C8B-B14F-4D97-AF65-F5344CB8AC3E}">
        <p14:creationId xmlns:p14="http://schemas.microsoft.com/office/powerpoint/2010/main" val="296878050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2">
            <a:duotone>
              <a:schemeClr val="bg2">
                <a:shade val="88000"/>
                <a:hueMod val="106000"/>
                <a:satMod val="140000"/>
                <a:lumMod val="54000"/>
              </a:schemeClr>
              <a:schemeClr val="bg2">
                <a:tint val="98000"/>
                <a:hueMod val="90000"/>
                <a:satMod val="150000"/>
                <a:lumMod val="160000"/>
              </a:schemeClr>
            </a:duotone>
          </a:blip>
          <a:stretch/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Group 8">
            <a:extLst>
              <a:ext uri="{FF2B5EF4-FFF2-40B4-BE49-F238E27FC236}">
                <a16:creationId xmlns:a16="http://schemas.microsoft.com/office/drawing/2014/main" id="{8E1DDAD8-1D10-4640-A034-BE90015E37B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0" y="-1"/>
            <a:ext cx="12192003" cy="6858001"/>
            <a:chOff x="0" y="-1"/>
            <a:chExt cx="12192003" cy="6858001"/>
          </a:xfrm>
        </p:grpSpPr>
        <p:sp useBgFill="1">
          <p:nvSpPr>
            <p:cNvPr id="7" name="Rectangle 6">
              <a:extLst>
                <a:ext uri="{FF2B5EF4-FFF2-40B4-BE49-F238E27FC236}">
                  <a16:creationId xmlns:a16="http://schemas.microsoft.com/office/drawing/2014/main" id="{52FE7688-721D-4A97-B007-BDE056094DA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" y="-1"/>
              <a:ext cx="12192000" cy="68580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pic>
          <p:nvPicPr>
            <p:cNvPr id="11" name="Picture 2">
              <a:extLst>
                <a:ext uri="{FF2B5EF4-FFF2-40B4-BE49-F238E27FC236}">
                  <a16:creationId xmlns:a16="http://schemas.microsoft.com/office/drawing/2014/main" id="{9E73A810-8571-4A9D-A3CB-336933AB4C0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PicPr>
              <a:picLocks noChangeAspect="1" noChangeArrowheads="1"/>
            </p:cNvPic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PicPr>
          <p:blipFill>
            <a:blip r:embed="rId3">
              <a:alphaModFix amt="30000"/>
              <a:duotone>
                <a:prstClr val="black"/>
                <a:schemeClr val="tx2">
                  <a:tint val="45000"/>
                  <a:satMod val="400000"/>
                </a:schemeClr>
              </a:duoton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0" y="-1"/>
              <a:ext cx="12192003" cy="6858001"/>
            </a:xfrm>
            <a:prstGeom prst="rect">
              <a:avLst/>
            </a:prstGeom>
            <a:noFill/>
            <a:extLst>
              <a:ext uri="{909E8E84-426E-40dd-AFC4-6F175D3DCCD1}">
                <a14:hiddenFill xmlns="" xmlns:a16="http://schemas.microsoft.com/office/drawing/2014/main" xmlns:a14="http://schemas.microsoft.com/office/drawing/2010/main" xmlns:p14="http://schemas.microsoft.com/office/powerpoint/2010/main">
                  <a:solidFill>
                    <a:srgbClr val="FFFFFF"/>
                  </a:solidFill>
                </a14:hiddenFill>
              </a:ext>
            </a:extLst>
          </p:spPr>
        </p:pic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E48294E0-409B-0DFD-8CD0-E4B762F3AB5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962519" y="618518"/>
            <a:ext cx="3084891" cy="1478570"/>
          </a:xfrm>
        </p:spPr>
        <p:txBody>
          <a:bodyPr>
            <a:normAutofit/>
          </a:bodyPr>
          <a:lstStyle/>
          <a:p>
            <a:r>
              <a:rPr lang="en-US" sz="3200"/>
              <a:t>RMArkdown with Palmer Penguins</a:t>
            </a:r>
          </a:p>
        </p:txBody>
      </p:sp>
      <p:pic>
        <p:nvPicPr>
          <p:cNvPr id="12" name="Picture 11" descr="Penguins walking together">
            <a:extLst>
              <a:ext uri="{FF2B5EF4-FFF2-40B4-BE49-F238E27FC236}">
                <a16:creationId xmlns:a16="http://schemas.microsoft.com/office/drawing/2014/main" id="{DC79BD77-4FA6-765A-95D7-36A61934A82E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7639" r="19343" b="-1"/>
          <a:stretch>
            <a:fillRect/>
          </a:stretch>
        </p:blipFill>
        <p:spPr>
          <a:xfrm>
            <a:off x="-5597" y="10"/>
            <a:ext cx="7558541" cy="6857990"/>
          </a:xfrm>
          <a:prstGeom prst="rect">
            <a:avLst/>
          </a:prstGeom>
        </p:spPr>
      </p:pic>
      <p:grpSp>
        <p:nvGrpSpPr>
          <p:cNvPr id="13" name="Group 12">
            <a:extLst>
              <a:ext uri="{FF2B5EF4-FFF2-40B4-BE49-F238E27FC236}">
                <a16:creationId xmlns:a16="http://schemas.microsoft.com/office/drawing/2014/main" id="{FD642FB6-2808-4BC5-AE0B-7302C24B78A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0" y="0"/>
            <a:ext cx="2305051" cy="6858001"/>
            <a:chOff x="0" y="0"/>
            <a:chExt cx="2305051" cy="6858001"/>
          </a:xfrm>
          <a:solidFill>
            <a:schemeClr val="tx1">
              <a:alpha val="70000"/>
            </a:schemeClr>
          </a:solidFill>
          <a:effectLst/>
        </p:grpSpPr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0B0B8F04-D9A7-48E5-A29C-51A66B59DFF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ChangeArrowhead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209675" y="4763"/>
              <a:ext cx="23813" cy="218122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5" name="Freeform 6">
              <a:extLst>
                <a:ext uri="{FF2B5EF4-FFF2-40B4-BE49-F238E27FC236}">
                  <a16:creationId xmlns:a16="http://schemas.microsoft.com/office/drawing/2014/main" id="{D6D18883-6BFF-42BB-8088-FCCF83F9CFC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28713" y="217646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6" name="Freeform 7">
              <a:extLst>
                <a:ext uri="{FF2B5EF4-FFF2-40B4-BE49-F238E27FC236}">
                  <a16:creationId xmlns:a16="http://schemas.microsoft.com/office/drawing/2014/main" id="{1D0FEFB3-A009-4D0F-9107-C0B17786FB0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23950" y="4021138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7" name="Rectangle 16">
              <a:extLst>
                <a:ext uri="{FF2B5EF4-FFF2-40B4-BE49-F238E27FC236}">
                  <a16:creationId xmlns:a16="http://schemas.microsoft.com/office/drawing/2014/main" id="{78E86C7F-B981-4448-8A1A-856F7124FF4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ChangeArrowhead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414338" y="9525"/>
              <a:ext cx="28575" cy="4481513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8" name="Freeform 9">
              <a:extLst>
                <a:ext uri="{FF2B5EF4-FFF2-40B4-BE49-F238E27FC236}">
                  <a16:creationId xmlns:a16="http://schemas.microsoft.com/office/drawing/2014/main" id="{4C6CFFD9-BA00-4184-8310-5FC9550954F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333375" y="44815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9" name="Freeform 10">
              <a:extLst>
                <a:ext uri="{FF2B5EF4-FFF2-40B4-BE49-F238E27FC236}">
                  <a16:creationId xmlns:a16="http://schemas.microsoft.com/office/drawing/2014/main" id="{A1892DF3-4848-496C-8664-DFD32EE2508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90500" y="9525"/>
              <a:ext cx="152400" cy="908050"/>
            </a:xfrm>
            <a:custGeom>
              <a:avLst/>
              <a:gdLst/>
              <a:ahLst/>
              <a:cxnLst/>
              <a:rect l="0" t="0" r="r" b="b"/>
              <a:pathLst>
                <a:path w="96" h="572">
                  <a:moveTo>
                    <a:pt x="15" y="572"/>
                  </a:moveTo>
                  <a:lnTo>
                    <a:pt x="0" y="566"/>
                  </a:lnTo>
                  <a:lnTo>
                    <a:pt x="81" y="380"/>
                  </a:lnTo>
                  <a:lnTo>
                    <a:pt x="81" y="0"/>
                  </a:lnTo>
                  <a:lnTo>
                    <a:pt x="96" y="0"/>
                  </a:lnTo>
                  <a:lnTo>
                    <a:pt x="96" y="383"/>
                  </a:lnTo>
                  <a:lnTo>
                    <a:pt x="15" y="57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20" name="Freeform 11">
              <a:extLst>
                <a:ext uri="{FF2B5EF4-FFF2-40B4-BE49-F238E27FC236}">
                  <a16:creationId xmlns:a16="http://schemas.microsoft.com/office/drawing/2014/main" id="{D6DB8C30-651E-4D8F-A70C-163FC584273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290638" y="14288"/>
              <a:ext cx="376238" cy="1801813"/>
            </a:xfrm>
            <a:custGeom>
              <a:avLst/>
              <a:gdLst/>
              <a:ahLst/>
              <a:cxnLst/>
              <a:rect l="0" t="0" r="r" b="b"/>
              <a:pathLst>
                <a:path w="237" h="1135">
                  <a:moveTo>
                    <a:pt x="222" y="1135"/>
                  </a:moveTo>
                  <a:lnTo>
                    <a:pt x="0" y="620"/>
                  </a:lnTo>
                  <a:lnTo>
                    <a:pt x="0" y="0"/>
                  </a:lnTo>
                  <a:lnTo>
                    <a:pt x="18" y="0"/>
                  </a:lnTo>
                  <a:lnTo>
                    <a:pt x="18" y="617"/>
                  </a:lnTo>
                  <a:lnTo>
                    <a:pt x="237" y="1129"/>
                  </a:lnTo>
                  <a:lnTo>
                    <a:pt x="222" y="113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21" name="Freeform 12">
              <a:extLst>
                <a:ext uri="{FF2B5EF4-FFF2-40B4-BE49-F238E27FC236}">
                  <a16:creationId xmlns:a16="http://schemas.microsoft.com/office/drawing/2014/main" id="{563DFB81-F969-4F44-BA6C-6347956423F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600200" y="180181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22" name="Freeform 13">
              <a:extLst>
                <a:ext uri="{FF2B5EF4-FFF2-40B4-BE49-F238E27FC236}">
                  <a16:creationId xmlns:a16="http://schemas.microsoft.com/office/drawing/2014/main" id="{8E5DE346-AFCA-40DA-B5E2-93A86EA54C1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381125" y="9525"/>
              <a:ext cx="371475" cy="1425575"/>
            </a:xfrm>
            <a:custGeom>
              <a:avLst/>
              <a:gdLst/>
              <a:ahLst/>
              <a:cxnLst/>
              <a:rect l="0" t="0" r="r" b="b"/>
              <a:pathLst>
                <a:path w="234" h="898">
                  <a:moveTo>
                    <a:pt x="219" y="898"/>
                  </a:moveTo>
                  <a:lnTo>
                    <a:pt x="0" y="383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380"/>
                  </a:lnTo>
                  <a:lnTo>
                    <a:pt x="234" y="892"/>
                  </a:lnTo>
                  <a:lnTo>
                    <a:pt x="219" y="89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23" name="Freeform 14">
              <a:extLst>
                <a:ext uri="{FF2B5EF4-FFF2-40B4-BE49-F238E27FC236}">
                  <a16:creationId xmlns:a16="http://schemas.microsoft.com/office/drawing/2014/main" id="{77A34306-2AE8-43D0-9686-E97B3B53FE3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643063" y="0"/>
              <a:ext cx="152400" cy="912813"/>
            </a:xfrm>
            <a:custGeom>
              <a:avLst/>
              <a:gdLst/>
              <a:ahLst/>
              <a:cxnLst/>
              <a:rect l="0" t="0" r="r" b="b"/>
              <a:pathLst>
                <a:path w="96" h="575">
                  <a:moveTo>
                    <a:pt x="96" y="575"/>
                  </a:moveTo>
                  <a:lnTo>
                    <a:pt x="78" y="575"/>
                  </a:lnTo>
                  <a:lnTo>
                    <a:pt x="78" y="192"/>
                  </a:lnTo>
                  <a:lnTo>
                    <a:pt x="0" y="6"/>
                  </a:lnTo>
                  <a:lnTo>
                    <a:pt x="15" y="0"/>
                  </a:lnTo>
                  <a:lnTo>
                    <a:pt x="96" y="189"/>
                  </a:lnTo>
                  <a:lnTo>
                    <a:pt x="96" y="57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24" name="Freeform 15">
              <a:extLst>
                <a:ext uri="{FF2B5EF4-FFF2-40B4-BE49-F238E27FC236}">
                  <a16:creationId xmlns:a16="http://schemas.microsoft.com/office/drawing/2014/main" id="{B9CC10F0-FFCD-4CB9-AF4C-22722D20B75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685925" y="14208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25" name="Freeform 16">
              <a:extLst>
                <a:ext uri="{FF2B5EF4-FFF2-40B4-BE49-F238E27FC236}">
                  <a16:creationId xmlns:a16="http://schemas.microsoft.com/office/drawing/2014/main" id="{2A6B0E38-C962-4491-BFDA-75378B4D674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685925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26" name="Freeform 17">
              <a:extLst>
                <a:ext uri="{FF2B5EF4-FFF2-40B4-BE49-F238E27FC236}">
                  <a16:creationId xmlns:a16="http://schemas.microsoft.com/office/drawing/2014/main" id="{655F640B-8407-487C-8696-F47451478E0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743075" y="4763"/>
              <a:ext cx="419100" cy="522288"/>
            </a:xfrm>
            <a:custGeom>
              <a:avLst/>
              <a:gdLst/>
              <a:ahLst/>
              <a:cxnLst/>
              <a:rect l="0" t="0" r="r" b="b"/>
              <a:pathLst>
                <a:path w="264" h="329">
                  <a:moveTo>
                    <a:pt x="252" y="329"/>
                  </a:moveTo>
                  <a:lnTo>
                    <a:pt x="45" y="120"/>
                  </a:lnTo>
                  <a:lnTo>
                    <a:pt x="0" y="6"/>
                  </a:lnTo>
                  <a:lnTo>
                    <a:pt x="15" y="0"/>
                  </a:lnTo>
                  <a:lnTo>
                    <a:pt x="60" y="111"/>
                  </a:lnTo>
                  <a:lnTo>
                    <a:pt x="264" y="317"/>
                  </a:lnTo>
                  <a:lnTo>
                    <a:pt x="252" y="329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27" name="Freeform 18">
              <a:extLst>
                <a:ext uri="{FF2B5EF4-FFF2-40B4-BE49-F238E27FC236}">
                  <a16:creationId xmlns:a16="http://schemas.microsoft.com/office/drawing/2014/main" id="{FAB4F099-4FF6-4410-A5B9-2A5355719C9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119313" y="488950"/>
              <a:ext cx="161925" cy="147638"/>
            </a:xfrm>
            <a:custGeom>
              <a:avLst/>
              <a:gdLst/>
              <a:ahLst/>
              <a:cxnLst/>
              <a:rect l="0" t="0" r="r" b="b"/>
              <a:pathLst>
                <a:path w="34" h="31">
                  <a:moveTo>
                    <a:pt x="17" y="31"/>
                  </a:moveTo>
                  <a:cubicBezTo>
                    <a:pt x="13" y="31"/>
                    <a:pt x="9" y="30"/>
                    <a:pt x="6" y="27"/>
                  </a:cubicBezTo>
                  <a:cubicBezTo>
                    <a:pt x="0" y="20"/>
                    <a:pt x="0" y="10"/>
                    <a:pt x="6" y="4"/>
                  </a:cubicBezTo>
                  <a:cubicBezTo>
                    <a:pt x="9" y="1"/>
                    <a:pt x="13" y="0"/>
                    <a:pt x="17" y="0"/>
                  </a:cubicBezTo>
                  <a:cubicBezTo>
                    <a:pt x="21" y="0"/>
                    <a:pt x="25" y="1"/>
                    <a:pt x="28" y="4"/>
                  </a:cubicBezTo>
                  <a:cubicBezTo>
                    <a:pt x="34" y="10"/>
                    <a:pt x="34" y="20"/>
                    <a:pt x="28" y="27"/>
                  </a:cubicBezTo>
                  <a:cubicBezTo>
                    <a:pt x="25" y="30"/>
                    <a:pt x="21" y="31"/>
                    <a:pt x="17" y="31"/>
                  </a:cubicBezTo>
                  <a:close/>
                  <a:moveTo>
                    <a:pt x="17" y="4"/>
                  </a:moveTo>
                  <a:cubicBezTo>
                    <a:pt x="14" y="4"/>
                    <a:pt x="11" y="5"/>
                    <a:pt x="9" y="7"/>
                  </a:cubicBezTo>
                  <a:cubicBezTo>
                    <a:pt x="4" y="12"/>
                    <a:pt x="4" y="19"/>
                    <a:pt x="9" y="24"/>
                  </a:cubicBezTo>
                  <a:cubicBezTo>
                    <a:pt x="11" y="26"/>
                    <a:pt x="14" y="27"/>
                    <a:pt x="17" y="27"/>
                  </a:cubicBezTo>
                  <a:cubicBezTo>
                    <a:pt x="20" y="27"/>
                    <a:pt x="23" y="26"/>
                    <a:pt x="25" y="24"/>
                  </a:cubicBezTo>
                  <a:cubicBezTo>
                    <a:pt x="30" y="19"/>
                    <a:pt x="30" y="12"/>
                    <a:pt x="25" y="7"/>
                  </a:cubicBezTo>
                  <a:cubicBezTo>
                    <a:pt x="23" y="5"/>
                    <a:pt x="20" y="4"/>
                    <a:pt x="17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28" name="Freeform 19">
              <a:extLst>
                <a:ext uri="{FF2B5EF4-FFF2-40B4-BE49-F238E27FC236}">
                  <a16:creationId xmlns:a16="http://schemas.microsoft.com/office/drawing/2014/main" id="{6FE80B6E-3DA9-4304-9925-12E578C4E9B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952500" y="4763"/>
              <a:ext cx="152400" cy="908050"/>
            </a:xfrm>
            <a:custGeom>
              <a:avLst/>
              <a:gdLst/>
              <a:ahLst/>
              <a:cxnLst/>
              <a:rect l="0" t="0" r="r" b="b"/>
              <a:pathLst>
                <a:path w="96" h="572">
                  <a:moveTo>
                    <a:pt x="15" y="572"/>
                  </a:moveTo>
                  <a:lnTo>
                    <a:pt x="0" y="572"/>
                  </a:lnTo>
                  <a:lnTo>
                    <a:pt x="0" y="189"/>
                  </a:lnTo>
                  <a:lnTo>
                    <a:pt x="81" y="0"/>
                  </a:lnTo>
                  <a:lnTo>
                    <a:pt x="96" y="6"/>
                  </a:lnTo>
                  <a:lnTo>
                    <a:pt x="15" y="192"/>
                  </a:lnTo>
                  <a:lnTo>
                    <a:pt x="15" y="57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29" name="Freeform 20">
              <a:extLst>
                <a:ext uri="{FF2B5EF4-FFF2-40B4-BE49-F238E27FC236}">
                  <a16:creationId xmlns:a16="http://schemas.microsoft.com/office/drawing/2014/main" id="{67D1CB75-0CBA-4E13-924C-21F221D7BF6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866775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2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2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30" name="Freeform 21">
              <a:extLst>
                <a:ext uri="{FF2B5EF4-FFF2-40B4-BE49-F238E27FC236}">
                  <a16:creationId xmlns:a16="http://schemas.microsoft.com/office/drawing/2014/main" id="{F2CC783B-FA45-4777-A76A-982B285C7C4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890588" y="155416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31" name="Freeform 22">
              <a:extLst>
                <a:ext uri="{FF2B5EF4-FFF2-40B4-BE49-F238E27FC236}">
                  <a16:creationId xmlns:a16="http://schemas.microsoft.com/office/drawing/2014/main" id="{D68F4DD3-D736-4B78-972E-F5128CFBE73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738188" y="5622925"/>
              <a:ext cx="338138" cy="1216025"/>
            </a:xfrm>
            <a:custGeom>
              <a:avLst/>
              <a:gdLst/>
              <a:ahLst/>
              <a:cxnLst/>
              <a:rect l="0" t="0" r="r" b="b"/>
              <a:pathLst>
                <a:path w="213" h="766">
                  <a:moveTo>
                    <a:pt x="213" y="766"/>
                  </a:moveTo>
                  <a:lnTo>
                    <a:pt x="195" y="766"/>
                  </a:lnTo>
                  <a:lnTo>
                    <a:pt x="195" y="464"/>
                  </a:lnTo>
                  <a:lnTo>
                    <a:pt x="0" y="6"/>
                  </a:lnTo>
                  <a:lnTo>
                    <a:pt x="12" y="0"/>
                  </a:lnTo>
                  <a:lnTo>
                    <a:pt x="213" y="461"/>
                  </a:lnTo>
                  <a:lnTo>
                    <a:pt x="213" y="76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32" name="Freeform 23">
              <a:extLst>
                <a:ext uri="{FF2B5EF4-FFF2-40B4-BE49-F238E27FC236}">
                  <a16:creationId xmlns:a16="http://schemas.microsoft.com/office/drawing/2014/main" id="{B14AF103-15B3-4796-A71A-297D37E1763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47700" y="5480050"/>
              <a:ext cx="157163" cy="157163"/>
            </a:xfrm>
            <a:custGeom>
              <a:avLst/>
              <a:gdLst/>
              <a:ahLst/>
              <a:cxnLst/>
              <a:rect l="0" t="0" r="r" b="b"/>
              <a:pathLst>
                <a:path w="33" h="33">
                  <a:moveTo>
                    <a:pt x="17" y="33"/>
                  </a:moveTo>
                  <a:cubicBezTo>
                    <a:pt x="8" y="33"/>
                    <a:pt x="0" y="26"/>
                    <a:pt x="0" y="17"/>
                  </a:cubicBezTo>
                  <a:cubicBezTo>
                    <a:pt x="0" y="8"/>
                    <a:pt x="8" y="0"/>
                    <a:pt x="17" y="0"/>
                  </a:cubicBezTo>
                  <a:cubicBezTo>
                    <a:pt x="26" y="0"/>
                    <a:pt x="33" y="8"/>
                    <a:pt x="33" y="17"/>
                  </a:cubicBezTo>
                  <a:cubicBezTo>
                    <a:pt x="33" y="26"/>
                    <a:pt x="26" y="33"/>
                    <a:pt x="17" y="33"/>
                  </a:cubicBezTo>
                  <a:close/>
                  <a:moveTo>
                    <a:pt x="17" y="4"/>
                  </a:moveTo>
                  <a:cubicBezTo>
                    <a:pt x="10" y="4"/>
                    <a:pt x="4" y="10"/>
                    <a:pt x="4" y="17"/>
                  </a:cubicBezTo>
                  <a:cubicBezTo>
                    <a:pt x="4" y="24"/>
                    <a:pt x="10" y="29"/>
                    <a:pt x="17" y="29"/>
                  </a:cubicBezTo>
                  <a:cubicBezTo>
                    <a:pt x="23" y="29"/>
                    <a:pt x="29" y="24"/>
                    <a:pt x="29" y="17"/>
                  </a:cubicBezTo>
                  <a:cubicBezTo>
                    <a:pt x="29" y="10"/>
                    <a:pt x="23" y="4"/>
                    <a:pt x="17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33" name="Freeform 24">
              <a:extLst>
                <a:ext uri="{FF2B5EF4-FFF2-40B4-BE49-F238E27FC236}">
                  <a16:creationId xmlns:a16="http://schemas.microsoft.com/office/drawing/2014/main" id="{B0B240FB-0453-4B6F-9F9B-C2C3305AC5E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6675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2" y="0"/>
                    <a:pt x="40" y="9"/>
                    <a:pt x="40" y="20"/>
                  </a:cubicBezTo>
                  <a:cubicBezTo>
                    <a:pt x="40" y="31"/>
                    <a:pt x="32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2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2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34" name="Freeform 25">
              <a:extLst>
                <a:ext uri="{FF2B5EF4-FFF2-40B4-BE49-F238E27FC236}">
                  <a16:creationId xmlns:a16="http://schemas.microsoft.com/office/drawing/2014/main" id="{EBBBDCEE-433E-40F3-B49D-375CB162A88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0" y="3897313"/>
              <a:ext cx="133350" cy="266700"/>
            </a:xfrm>
            <a:custGeom>
              <a:avLst/>
              <a:gdLst/>
              <a:ahLst/>
              <a:cxnLst/>
              <a:rect l="0" t="0" r="r" b="b"/>
              <a:pathLst>
                <a:path w="84" h="168">
                  <a:moveTo>
                    <a:pt x="69" y="168"/>
                  </a:moveTo>
                  <a:lnTo>
                    <a:pt x="0" y="6"/>
                  </a:lnTo>
                  <a:lnTo>
                    <a:pt x="12" y="0"/>
                  </a:lnTo>
                  <a:lnTo>
                    <a:pt x="84" y="162"/>
                  </a:lnTo>
                  <a:lnTo>
                    <a:pt x="69" y="16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35" name="Freeform 26">
              <a:extLst>
                <a:ext uri="{FF2B5EF4-FFF2-40B4-BE49-F238E27FC236}">
                  <a16:creationId xmlns:a16="http://schemas.microsoft.com/office/drawing/2014/main" id="{09B123C6-141E-4A37-B5A7-27E7764FA1F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6675" y="4149725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36" name="Freeform 27">
              <a:extLst>
                <a:ext uri="{FF2B5EF4-FFF2-40B4-BE49-F238E27FC236}">
                  <a16:creationId xmlns:a16="http://schemas.microsoft.com/office/drawing/2014/main" id="{1FA1F521-36A1-49FF-84A7-229E8970F7C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0" y="1644650"/>
              <a:ext cx="133350" cy="269875"/>
            </a:xfrm>
            <a:custGeom>
              <a:avLst/>
              <a:gdLst/>
              <a:ahLst/>
              <a:cxnLst/>
              <a:rect l="0" t="0" r="r" b="b"/>
              <a:pathLst>
                <a:path w="84" h="170">
                  <a:moveTo>
                    <a:pt x="12" y="170"/>
                  </a:moveTo>
                  <a:lnTo>
                    <a:pt x="0" y="164"/>
                  </a:lnTo>
                  <a:lnTo>
                    <a:pt x="69" y="0"/>
                  </a:lnTo>
                  <a:lnTo>
                    <a:pt x="84" y="6"/>
                  </a:lnTo>
                  <a:lnTo>
                    <a:pt x="12" y="17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37" name="Freeform 28">
              <a:extLst>
                <a:ext uri="{FF2B5EF4-FFF2-40B4-BE49-F238E27FC236}">
                  <a16:creationId xmlns:a16="http://schemas.microsoft.com/office/drawing/2014/main" id="{DE512F89-D901-4487-A42C-02345EC5FCD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6675" y="146843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38" name="Freeform 29">
              <a:extLst>
                <a:ext uri="{FF2B5EF4-FFF2-40B4-BE49-F238E27FC236}">
                  <a16:creationId xmlns:a16="http://schemas.microsoft.com/office/drawing/2014/main" id="{ED3ED0E5-3226-4B78-B3EA-C591824B897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95325" y="4763"/>
              <a:ext cx="309563" cy="1558925"/>
            </a:xfrm>
            <a:custGeom>
              <a:avLst/>
              <a:gdLst/>
              <a:ahLst/>
              <a:cxnLst/>
              <a:rect l="0" t="0" r="r" b="b"/>
              <a:pathLst>
                <a:path w="195" h="982">
                  <a:moveTo>
                    <a:pt x="195" y="982"/>
                  </a:moveTo>
                  <a:lnTo>
                    <a:pt x="177" y="982"/>
                  </a:lnTo>
                  <a:lnTo>
                    <a:pt x="177" y="805"/>
                  </a:lnTo>
                  <a:lnTo>
                    <a:pt x="0" y="629"/>
                  </a:lnTo>
                  <a:lnTo>
                    <a:pt x="0" y="0"/>
                  </a:lnTo>
                  <a:lnTo>
                    <a:pt x="18" y="0"/>
                  </a:lnTo>
                  <a:lnTo>
                    <a:pt x="18" y="623"/>
                  </a:lnTo>
                  <a:lnTo>
                    <a:pt x="195" y="796"/>
                  </a:lnTo>
                  <a:lnTo>
                    <a:pt x="195" y="98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39" name="Freeform 30">
              <a:extLst>
                <a:ext uri="{FF2B5EF4-FFF2-40B4-BE49-F238E27FC236}">
                  <a16:creationId xmlns:a16="http://schemas.microsoft.com/office/drawing/2014/main" id="{9CBB1F68-B6DE-4ECF-B20F-328F9811E2F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7150" y="488156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40" name="Freeform 31">
              <a:extLst>
                <a:ext uri="{FF2B5EF4-FFF2-40B4-BE49-F238E27FC236}">
                  <a16:creationId xmlns:a16="http://schemas.microsoft.com/office/drawing/2014/main" id="{A566C551-9523-4D97-A8CF-5C91F436C50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38113" y="5060950"/>
              <a:ext cx="304800" cy="1778000"/>
            </a:xfrm>
            <a:custGeom>
              <a:avLst/>
              <a:gdLst/>
              <a:ahLst/>
              <a:cxnLst/>
              <a:rect l="0" t="0" r="r" b="b"/>
              <a:pathLst>
                <a:path w="192" h="1120">
                  <a:moveTo>
                    <a:pt x="192" y="1120"/>
                  </a:moveTo>
                  <a:lnTo>
                    <a:pt x="177" y="1120"/>
                  </a:lnTo>
                  <a:lnTo>
                    <a:pt x="177" y="360"/>
                  </a:lnTo>
                  <a:lnTo>
                    <a:pt x="0" y="183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77"/>
                  </a:lnTo>
                  <a:lnTo>
                    <a:pt x="192" y="354"/>
                  </a:lnTo>
                  <a:lnTo>
                    <a:pt x="192" y="112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41" name="Freeform 32">
              <a:extLst>
                <a:ext uri="{FF2B5EF4-FFF2-40B4-BE49-F238E27FC236}">
                  <a16:creationId xmlns:a16="http://schemas.microsoft.com/office/drawing/2014/main" id="{9E166BA0-9268-4419-9332-2D30C212397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61975" y="643096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42" name="Rectangle 41">
              <a:extLst>
                <a:ext uri="{FF2B5EF4-FFF2-40B4-BE49-F238E27FC236}">
                  <a16:creationId xmlns:a16="http://schemas.microsoft.com/office/drawing/2014/main" id="{B700C031-AA54-4DC7-B8A2-2569B3FA653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ChangeArrowhead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42938" y="6610350"/>
              <a:ext cx="23813" cy="242888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43" name="Freeform 34">
              <a:extLst>
                <a:ext uri="{FF2B5EF4-FFF2-40B4-BE49-F238E27FC236}">
                  <a16:creationId xmlns:a16="http://schemas.microsoft.com/office/drawing/2014/main" id="{03045EC8-ECC8-473F-8786-DE266F05B15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76200" y="643096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2" y="0"/>
                    <a:pt x="40" y="9"/>
                    <a:pt x="40" y="20"/>
                  </a:cubicBezTo>
                  <a:cubicBezTo>
                    <a:pt x="40" y="31"/>
                    <a:pt x="32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44" name="Freeform 35">
              <a:extLst>
                <a:ext uri="{FF2B5EF4-FFF2-40B4-BE49-F238E27FC236}">
                  <a16:creationId xmlns:a16="http://schemas.microsoft.com/office/drawing/2014/main" id="{9337EBA2-5088-4A44-8C0B-A6EE78989CF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0" y="5978525"/>
              <a:ext cx="190500" cy="461963"/>
            </a:xfrm>
            <a:custGeom>
              <a:avLst/>
              <a:gdLst/>
              <a:ahLst/>
              <a:cxnLst/>
              <a:rect l="0" t="0" r="r" b="b"/>
              <a:pathLst>
                <a:path w="120" h="291">
                  <a:moveTo>
                    <a:pt x="120" y="291"/>
                  </a:moveTo>
                  <a:lnTo>
                    <a:pt x="105" y="291"/>
                  </a:lnTo>
                  <a:lnTo>
                    <a:pt x="105" y="114"/>
                  </a:lnTo>
                  <a:lnTo>
                    <a:pt x="0" y="9"/>
                  </a:lnTo>
                  <a:lnTo>
                    <a:pt x="12" y="0"/>
                  </a:lnTo>
                  <a:lnTo>
                    <a:pt x="120" y="108"/>
                  </a:lnTo>
                  <a:lnTo>
                    <a:pt x="120" y="291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45" name="Freeform 36">
              <a:extLst>
                <a:ext uri="{FF2B5EF4-FFF2-40B4-BE49-F238E27FC236}">
                  <a16:creationId xmlns:a16="http://schemas.microsoft.com/office/drawing/2014/main" id="{3486A705-2593-45C9-A13E-8E2FB7C3543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014413" y="1801813"/>
              <a:ext cx="214313" cy="755650"/>
            </a:xfrm>
            <a:custGeom>
              <a:avLst/>
              <a:gdLst/>
              <a:ahLst/>
              <a:cxnLst/>
              <a:rect l="0" t="0" r="r" b="b"/>
              <a:pathLst>
                <a:path w="135" h="476">
                  <a:moveTo>
                    <a:pt x="12" y="476"/>
                  </a:moveTo>
                  <a:lnTo>
                    <a:pt x="0" y="476"/>
                  </a:lnTo>
                  <a:lnTo>
                    <a:pt x="0" y="128"/>
                  </a:lnTo>
                  <a:lnTo>
                    <a:pt x="126" y="0"/>
                  </a:lnTo>
                  <a:lnTo>
                    <a:pt x="135" y="9"/>
                  </a:lnTo>
                  <a:lnTo>
                    <a:pt x="12" y="131"/>
                  </a:lnTo>
                  <a:lnTo>
                    <a:pt x="12" y="47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46" name="Freeform 37">
              <a:extLst>
                <a:ext uri="{FF2B5EF4-FFF2-40B4-BE49-F238E27FC236}">
                  <a16:creationId xmlns:a16="http://schemas.microsoft.com/office/drawing/2014/main" id="{F357321C-6DEE-4D02-A997-75E47EE0E0E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938213" y="2547938"/>
              <a:ext cx="166688" cy="160338"/>
            </a:xfrm>
            <a:custGeom>
              <a:avLst/>
              <a:gdLst/>
              <a:ahLst/>
              <a:cxnLst/>
              <a:rect l="0" t="0" r="r" b="b"/>
              <a:pathLst>
                <a:path w="35" h="34">
                  <a:moveTo>
                    <a:pt x="18" y="34"/>
                  </a:moveTo>
                  <a:cubicBezTo>
                    <a:pt x="8" y="34"/>
                    <a:pt x="0" y="26"/>
                    <a:pt x="0" y="17"/>
                  </a:cubicBezTo>
                  <a:cubicBezTo>
                    <a:pt x="0" y="7"/>
                    <a:pt x="8" y="0"/>
                    <a:pt x="18" y="0"/>
                  </a:cubicBezTo>
                  <a:cubicBezTo>
                    <a:pt x="27" y="0"/>
                    <a:pt x="35" y="7"/>
                    <a:pt x="35" y="17"/>
                  </a:cubicBezTo>
                  <a:cubicBezTo>
                    <a:pt x="35" y="26"/>
                    <a:pt x="27" y="34"/>
                    <a:pt x="18" y="34"/>
                  </a:cubicBezTo>
                  <a:close/>
                  <a:moveTo>
                    <a:pt x="18" y="4"/>
                  </a:moveTo>
                  <a:cubicBezTo>
                    <a:pt x="10" y="4"/>
                    <a:pt x="4" y="10"/>
                    <a:pt x="4" y="17"/>
                  </a:cubicBezTo>
                  <a:cubicBezTo>
                    <a:pt x="4" y="24"/>
                    <a:pt x="10" y="30"/>
                    <a:pt x="18" y="30"/>
                  </a:cubicBezTo>
                  <a:cubicBezTo>
                    <a:pt x="25" y="30"/>
                    <a:pt x="31" y="24"/>
                    <a:pt x="31" y="17"/>
                  </a:cubicBezTo>
                  <a:cubicBezTo>
                    <a:pt x="31" y="10"/>
                    <a:pt x="25" y="4"/>
                    <a:pt x="18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47" name="Freeform 38">
              <a:extLst>
                <a:ext uri="{FF2B5EF4-FFF2-40B4-BE49-F238E27FC236}">
                  <a16:creationId xmlns:a16="http://schemas.microsoft.com/office/drawing/2014/main" id="{D0B8F87F-3530-4BCD-A8E5-C1B83707B55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95313" y="4763"/>
              <a:ext cx="638175" cy="4025900"/>
            </a:xfrm>
            <a:custGeom>
              <a:avLst/>
              <a:gdLst/>
              <a:ahLst/>
              <a:cxnLst/>
              <a:rect l="0" t="0" r="r" b="b"/>
              <a:pathLst>
                <a:path w="402" h="2536">
                  <a:moveTo>
                    <a:pt x="402" y="2536"/>
                  </a:moveTo>
                  <a:lnTo>
                    <a:pt x="387" y="2536"/>
                  </a:lnTo>
                  <a:lnTo>
                    <a:pt x="387" y="2311"/>
                  </a:lnTo>
                  <a:lnTo>
                    <a:pt x="0" y="1925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916"/>
                  </a:lnTo>
                  <a:lnTo>
                    <a:pt x="402" y="2302"/>
                  </a:lnTo>
                  <a:lnTo>
                    <a:pt x="402" y="253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48" name="Freeform 39">
              <a:extLst>
                <a:ext uri="{FF2B5EF4-FFF2-40B4-BE49-F238E27FC236}">
                  <a16:creationId xmlns:a16="http://schemas.microsoft.com/office/drawing/2014/main" id="{5BE86BA3-AB0E-4F70-A552-0D9EB9E98ED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223963" y="1382713"/>
              <a:ext cx="142875" cy="476250"/>
            </a:xfrm>
            <a:custGeom>
              <a:avLst/>
              <a:gdLst/>
              <a:ahLst/>
              <a:cxnLst/>
              <a:rect l="0" t="0" r="r" b="b"/>
              <a:pathLst>
                <a:path w="90" h="300">
                  <a:moveTo>
                    <a:pt x="90" y="300"/>
                  </a:moveTo>
                  <a:lnTo>
                    <a:pt x="78" y="300"/>
                  </a:lnTo>
                  <a:lnTo>
                    <a:pt x="78" y="84"/>
                  </a:lnTo>
                  <a:lnTo>
                    <a:pt x="0" y="9"/>
                  </a:lnTo>
                  <a:lnTo>
                    <a:pt x="9" y="0"/>
                  </a:lnTo>
                  <a:lnTo>
                    <a:pt x="90" y="81"/>
                  </a:lnTo>
                  <a:lnTo>
                    <a:pt x="90" y="30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49" name="Freeform 40">
              <a:extLst>
                <a:ext uri="{FF2B5EF4-FFF2-40B4-BE49-F238E27FC236}">
                  <a16:creationId xmlns:a16="http://schemas.microsoft.com/office/drawing/2014/main" id="{DF5FE773-B9AE-4A3F-8EDC-165CE579BDC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300163" y="1849438"/>
              <a:ext cx="109538" cy="107950"/>
            </a:xfrm>
            <a:custGeom>
              <a:avLst/>
              <a:gdLst/>
              <a:ahLst/>
              <a:cxnLst/>
              <a:rect l="0" t="0" r="r" b="b"/>
              <a:pathLst>
                <a:path w="23" h="23">
                  <a:moveTo>
                    <a:pt x="12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2" y="0"/>
                  </a:cubicBezTo>
                  <a:cubicBezTo>
                    <a:pt x="18" y="0"/>
                    <a:pt x="23" y="5"/>
                    <a:pt x="23" y="12"/>
                  </a:cubicBezTo>
                  <a:cubicBezTo>
                    <a:pt x="23" y="18"/>
                    <a:pt x="18" y="23"/>
                    <a:pt x="12" y="23"/>
                  </a:cubicBezTo>
                  <a:close/>
                  <a:moveTo>
                    <a:pt x="12" y="4"/>
                  </a:moveTo>
                  <a:cubicBezTo>
                    <a:pt x="8" y="4"/>
                    <a:pt x="4" y="8"/>
                    <a:pt x="4" y="12"/>
                  </a:cubicBezTo>
                  <a:cubicBezTo>
                    <a:pt x="4" y="16"/>
                    <a:pt x="8" y="19"/>
                    <a:pt x="12" y="19"/>
                  </a:cubicBezTo>
                  <a:cubicBezTo>
                    <a:pt x="16" y="19"/>
                    <a:pt x="19" y="16"/>
                    <a:pt x="19" y="12"/>
                  </a:cubicBezTo>
                  <a:cubicBezTo>
                    <a:pt x="19" y="8"/>
                    <a:pt x="16" y="4"/>
                    <a:pt x="12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50" name="Freeform 41">
              <a:extLst>
                <a:ext uri="{FF2B5EF4-FFF2-40B4-BE49-F238E27FC236}">
                  <a16:creationId xmlns:a16="http://schemas.microsoft.com/office/drawing/2014/main" id="{4A03D7BE-B358-4F8B-85EA-65E0CBF2D1E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80988" y="3417888"/>
              <a:ext cx="142875" cy="474663"/>
            </a:xfrm>
            <a:custGeom>
              <a:avLst/>
              <a:gdLst/>
              <a:ahLst/>
              <a:cxnLst/>
              <a:rect l="0" t="0" r="r" b="b"/>
              <a:pathLst>
                <a:path w="90" h="299">
                  <a:moveTo>
                    <a:pt x="12" y="299"/>
                  </a:moveTo>
                  <a:lnTo>
                    <a:pt x="0" y="299"/>
                  </a:lnTo>
                  <a:lnTo>
                    <a:pt x="0" y="80"/>
                  </a:lnTo>
                  <a:lnTo>
                    <a:pt x="81" y="0"/>
                  </a:lnTo>
                  <a:lnTo>
                    <a:pt x="90" y="8"/>
                  </a:lnTo>
                  <a:lnTo>
                    <a:pt x="12" y="83"/>
                  </a:lnTo>
                  <a:lnTo>
                    <a:pt x="12" y="299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51" name="Freeform 42">
              <a:extLst>
                <a:ext uri="{FF2B5EF4-FFF2-40B4-BE49-F238E27FC236}">
                  <a16:creationId xmlns:a16="http://schemas.microsoft.com/office/drawing/2014/main" id="{A6548877-0957-435B-A419-389A278E57E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38125" y="3883025"/>
              <a:ext cx="109538" cy="109538"/>
            </a:xfrm>
            <a:custGeom>
              <a:avLst/>
              <a:gdLst/>
              <a:ahLst/>
              <a:cxnLst/>
              <a:rect l="0" t="0" r="r" b="b"/>
              <a:pathLst>
                <a:path w="23" h="23">
                  <a:moveTo>
                    <a:pt x="11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1" y="0"/>
                  </a:cubicBezTo>
                  <a:cubicBezTo>
                    <a:pt x="17" y="0"/>
                    <a:pt x="23" y="5"/>
                    <a:pt x="23" y="12"/>
                  </a:cubicBezTo>
                  <a:cubicBezTo>
                    <a:pt x="23" y="18"/>
                    <a:pt x="17" y="23"/>
                    <a:pt x="11" y="23"/>
                  </a:cubicBezTo>
                  <a:close/>
                  <a:moveTo>
                    <a:pt x="11" y="4"/>
                  </a:moveTo>
                  <a:cubicBezTo>
                    <a:pt x="7" y="4"/>
                    <a:pt x="4" y="8"/>
                    <a:pt x="4" y="12"/>
                  </a:cubicBezTo>
                  <a:cubicBezTo>
                    <a:pt x="4" y="16"/>
                    <a:pt x="7" y="19"/>
                    <a:pt x="11" y="19"/>
                  </a:cubicBezTo>
                  <a:cubicBezTo>
                    <a:pt x="15" y="19"/>
                    <a:pt x="19" y="16"/>
                    <a:pt x="19" y="12"/>
                  </a:cubicBezTo>
                  <a:cubicBezTo>
                    <a:pt x="19" y="8"/>
                    <a:pt x="15" y="4"/>
                    <a:pt x="11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52" name="Freeform 43">
              <a:extLst>
                <a:ext uri="{FF2B5EF4-FFF2-40B4-BE49-F238E27FC236}">
                  <a16:creationId xmlns:a16="http://schemas.microsoft.com/office/drawing/2014/main" id="{B2D5EA95-9E60-468A-8DA1-40F05C9BDA4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4763" y="2166938"/>
              <a:ext cx="114300" cy="452438"/>
            </a:xfrm>
            <a:custGeom>
              <a:avLst/>
              <a:gdLst/>
              <a:ahLst/>
              <a:cxnLst/>
              <a:rect l="0" t="0" r="r" b="b"/>
              <a:pathLst>
                <a:path w="72" h="285">
                  <a:moveTo>
                    <a:pt x="6" y="285"/>
                  </a:moveTo>
                  <a:lnTo>
                    <a:pt x="0" y="276"/>
                  </a:lnTo>
                  <a:lnTo>
                    <a:pt x="60" y="216"/>
                  </a:lnTo>
                  <a:lnTo>
                    <a:pt x="60" y="0"/>
                  </a:lnTo>
                  <a:lnTo>
                    <a:pt x="72" y="0"/>
                  </a:lnTo>
                  <a:lnTo>
                    <a:pt x="72" y="222"/>
                  </a:lnTo>
                  <a:lnTo>
                    <a:pt x="6" y="28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53" name="Freeform 44">
              <a:extLst>
                <a:ext uri="{FF2B5EF4-FFF2-40B4-BE49-F238E27FC236}">
                  <a16:creationId xmlns:a16="http://schemas.microsoft.com/office/drawing/2014/main" id="{C9B409CE-11E5-40D1-8C9B-86614EAE2A3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2388" y="2066925"/>
              <a:ext cx="109538" cy="109538"/>
            </a:xfrm>
            <a:custGeom>
              <a:avLst/>
              <a:gdLst/>
              <a:ahLst/>
              <a:cxnLst/>
              <a:rect l="0" t="0" r="r" b="b"/>
              <a:pathLst>
                <a:path w="23" h="23">
                  <a:moveTo>
                    <a:pt x="12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2" y="0"/>
                  </a:cubicBezTo>
                  <a:cubicBezTo>
                    <a:pt x="18" y="0"/>
                    <a:pt x="23" y="5"/>
                    <a:pt x="23" y="12"/>
                  </a:cubicBezTo>
                  <a:cubicBezTo>
                    <a:pt x="23" y="18"/>
                    <a:pt x="18" y="23"/>
                    <a:pt x="12" y="23"/>
                  </a:cubicBezTo>
                  <a:close/>
                  <a:moveTo>
                    <a:pt x="12" y="4"/>
                  </a:moveTo>
                  <a:cubicBezTo>
                    <a:pt x="8" y="4"/>
                    <a:pt x="4" y="8"/>
                    <a:pt x="4" y="12"/>
                  </a:cubicBezTo>
                  <a:cubicBezTo>
                    <a:pt x="4" y="16"/>
                    <a:pt x="8" y="19"/>
                    <a:pt x="12" y="19"/>
                  </a:cubicBezTo>
                  <a:cubicBezTo>
                    <a:pt x="16" y="19"/>
                    <a:pt x="19" y="16"/>
                    <a:pt x="19" y="12"/>
                  </a:cubicBezTo>
                  <a:cubicBezTo>
                    <a:pt x="19" y="8"/>
                    <a:pt x="16" y="4"/>
                    <a:pt x="12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54" name="Rectangle 53">
              <a:extLst>
                <a:ext uri="{FF2B5EF4-FFF2-40B4-BE49-F238E27FC236}">
                  <a16:creationId xmlns:a16="http://schemas.microsoft.com/office/drawing/2014/main" id="{9E594AF5-DB50-4227-AC2F-10EE5233C41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ChangeArrowhead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228725" y="4662488"/>
              <a:ext cx="23813" cy="218122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55" name="Freeform 46">
              <a:extLst>
                <a:ext uri="{FF2B5EF4-FFF2-40B4-BE49-F238E27FC236}">
                  <a16:creationId xmlns:a16="http://schemas.microsoft.com/office/drawing/2014/main" id="{9335DCAF-74A2-4994-B5BF-1C079A40A54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319213" y="5041900"/>
              <a:ext cx="371475" cy="1801813"/>
            </a:xfrm>
            <a:custGeom>
              <a:avLst/>
              <a:gdLst/>
              <a:ahLst/>
              <a:cxnLst/>
              <a:rect l="0" t="0" r="r" b="b"/>
              <a:pathLst>
                <a:path w="234" h="1135">
                  <a:moveTo>
                    <a:pt x="15" y="1135"/>
                  </a:moveTo>
                  <a:lnTo>
                    <a:pt x="0" y="1135"/>
                  </a:lnTo>
                  <a:lnTo>
                    <a:pt x="0" y="515"/>
                  </a:lnTo>
                  <a:lnTo>
                    <a:pt x="0" y="512"/>
                  </a:lnTo>
                  <a:lnTo>
                    <a:pt x="219" y="0"/>
                  </a:lnTo>
                  <a:lnTo>
                    <a:pt x="234" y="6"/>
                  </a:lnTo>
                  <a:lnTo>
                    <a:pt x="15" y="518"/>
                  </a:lnTo>
                  <a:lnTo>
                    <a:pt x="15" y="113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56" name="Freeform 47">
              <a:extLst>
                <a:ext uri="{FF2B5EF4-FFF2-40B4-BE49-F238E27FC236}">
                  <a16:creationId xmlns:a16="http://schemas.microsoft.com/office/drawing/2014/main" id="{1DC8E1A2-0C6B-4BA9-85F4-3645AED5DEA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47763" y="44815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57" name="Freeform 48">
              <a:extLst>
                <a:ext uri="{FF2B5EF4-FFF2-40B4-BE49-F238E27FC236}">
                  <a16:creationId xmlns:a16="http://schemas.microsoft.com/office/drawing/2014/main" id="{28F38DE0-3BEE-441A-8212-E77DA2328A3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819150" y="3983038"/>
              <a:ext cx="347663" cy="2860675"/>
            </a:xfrm>
            <a:custGeom>
              <a:avLst/>
              <a:gdLst/>
              <a:ahLst/>
              <a:cxnLst/>
              <a:rect l="0" t="0" r="r" b="b"/>
              <a:pathLst>
                <a:path w="219" h="1802">
                  <a:moveTo>
                    <a:pt x="219" y="1802"/>
                  </a:moveTo>
                  <a:lnTo>
                    <a:pt x="201" y="1802"/>
                  </a:lnTo>
                  <a:lnTo>
                    <a:pt x="201" y="1185"/>
                  </a:lnTo>
                  <a:lnTo>
                    <a:pt x="0" y="3"/>
                  </a:lnTo>
                  <a:lnTo>
                    <a:pt x="15" y="0"/>
                  </a:lnTo>
                  <a:lnTo>
                    <a:pt x="219" y="1185"/>
                  </a:lnTo>
                  <a:lnTo>
                    <a:pt x="219" y="180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58" name="Freeform 49">
              <a:extLst>
                <a:ext uri="{FF2B5EF4-FFF2-40B4-BE49-F238E27FC236}">
                  <a16:creationId xmlns:a16="http://schemas.microsoft.com/office/drawing/2014/main" id="{AE81208E-D239-496C-A312-506B0241B31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728663" y="3806825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59" name="Freeform 50">
              <a:extLst>
                <a:ext uri="{FF2B5EF4-FFF2-40B4-BE49-F238E27FC236}">
                  <a16:creationId xmlns:a16="http://schemas.microsoft.com/office/drawing/2014/main" id="{242FE966-DDA4-4668-B8D6-C4B0D4C78E5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624013" y="4867275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60" name="Freeform 51">
              <a:extLst>
                <a:ext uri="{FF2B5EF4-FFF2-40B4-BE49-F238E27FC236}">
                  <a16:creationId xmlns:a16="http://schemas.microsoft.com/office/drawing/2014/main" id="{FB0A5F60-550F-4025-9DCE-6F42A7C0643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404938" y="5422900"/>
              <a:ext cx="371475" cy="1425575"/>
            </a:xfrm>
            <a:custGeom>
              <a:avLst/>
              <a:gdLst/>
              <a:ahLst/>
              <a:cxnLst/>
              <a:rect l="0" t="0" r="r" b="b"/>
              <a:pathLst>
                <a:path w="234" h="898">
                  <a:moveTo>
                    <a:pt x="18" y="898"/>
                  </a:moveTo>
                  <a:lnTo>
                    <a:pt x="0" y="898"/>
                  </a:lnTo>
                  <a:lnTo>
                    <a:pt x="0" y="515"/>
                  </a:lnTo>
                  <a:lnTo>
                    <a:pt x="0" y="512"/>
                  </a:lnTo>
                  <a:lnTo>
                    <a:pt x="222" y="0"/>
                  </a:lnTo>
                  <a:lnTo>
                    <a:pt x="234" y="6"/>
                  </a:lnTo>
                  <a:lnTo>
                    <a:pt x="18" y="518"/>
                  </a:lnTo>
                  <a:lnTo>
                    <a:pt x="18" y="89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61" name="Freeform 52">
              <a:extLst>
                <a:ext uri="{FF2B5EF4-FFF2-40B4-BE49-F238E27FC236}">
                  <a16:creationId xmlns:a16="http://schemas.microsoft.com/office/drawing/2014/main" id="{D7B61D18-4A61-44C9-A809-40639E8C1D9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666875" y="5945188"/>
              <a:ext cx="152400" cy="912813"/>
            </a:xfrm>
            <a:custGeom>
              <a:avLst/>
              <a:gdLst/>
              <a:ahLst/>
              <a:cxnLst/>
              <a:rect l="0" t="0" r="r" b="b"/>
              <a:pathLst>
                <a:path w="96" h="575">
                  <a:moveTo>
                    <a:pt x="15" y="575"/>
                  </a:moveTo>
                  <a:lnTo>
                    <a:pt x="0" y="569"/>
                  </a:lnTo>
                  <a:lnTo>
                    <a:pt x="81" y="383"/>
                  </a:lnTo>
                  <a:lnTo>
                    <a:pt x="81" y="0"/>
                  </a:lnTo>
                  <a:lnTo>
                    <a:pt x="96" y="0"/>
                  </a:lnTo>
                  <a:lnTo>
                    <a:pt x="96" y="386"/>
                  </a:lnTo>
                  <a:lnTo>
                    <a:pt x="15" y="57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62" name="Freeform 53">
              <a:extLst>
                <a:ext uri="{FF2B5EF4-FFF2-40B4-BE49-F238E27FC236}">
                  <a16:creationId xmlns:a16="http://schemas.microsoft.com/office/drawing/2014/main" id="{CB26E7EB-DC12-4BA7-B5DE-09EF2C1D0A3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709738" y="52466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63" name="Freeform 54">
              <a:extLst>
                <a:ext uri="{FF2B5EF4-FFF2-40B4-BE49-F238E27FC236}">
                  <a16:creationId xmlns:a16="http://schemas.microsoft.com/office/drawing/2014/main" id="{921237B4-9D85-4611-851F-5DBD71544AE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709738" y="57642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64" name="Freeform 55">
              <a:extLst>
                <a:ext uri="{FF2B5EF4-FFF2-40B4-BE49-F238E27FC236}">
                  <a16:creationId xmlns:a16="http://schemas.microsoft.com/office/drawing/2014/main" id="{C91509DE-9FAA-4E84-BCC1-CDDBEA8AC01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766888" y="6330950"/>
              <a:ext cx="419100" cy="527050"/>
            </a:xfrm>
            <a:custGeom>
              <a:avLst/>
              <a:gdLst/>
              <a:ahLst/>
              <a:cxnLst/>
              <a:rect l="0" t="0" r="r" b="b"/>
              <a:pathLst>
                <a:path w="264" h="332">
                  <a:moveTo>
                    <a:pt x="12" y="332"/>
                  </a:moveTo>
                  <a:lnTo>
                    <a:pt x="0" y="326"/>
                  </a:lnTo>
                  <a:lnTo>
                    <a:pt x="45" y="206"/>
                  </a:lnTo>
                  <a:lnTo>
                    <a:pt x="255" y="0"/>
                  </a:lnTo>
                  <a:lnTo>
                    <a:pt x="264" y="12"/>
                  </a:lnTo>
                  <a:lnTo>
                    <a:pt x="60" y="215"/>
                  </a:lnTo>
                  <a:lnTo>
                    <a:pt x="12" y="33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65" name="Freeform 56">
              <a:extLst>
                <a:ext uri="{FF2B5EF4-FFF2-40B4-BE49-F238E27FC236}">
                  <a16:creationId xmlns:a16="http://schemas.microsoft.com/office/drawing/2014/main" id="{C7029B06-6A09-4E46-BA86-F3C66DBDD48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147888" y="6221413"/>
              <a:ext cx="157163" cy="147638"/>
            </a:xfrm>
            <a:custGeom>
              <a:avLst/>
              <a:gdLst/>
              <a:ahLst/>
              <a:cxnLst/>
              <a:rect l="0" t="0" r="r" b="b"/>
              <a:pathLst>
                <a:path w="33" h="31">
                  <a:moveTo>
                    <a:pt x="16" y="31"/>
                  </a:moveTo>
                  <a:cubicBezTo>
                    <a:pt x="12" y="31"/>
                    <a:pt x="8" y="29"/>
                    <a:pt x="5" y="26"/>
                  </a:cubicBezTo>
                  <a:cubicBezTo>
                    <a:pt x="2" y="24"/>
                    <a:pt x="0" y="20"/>
                    <a:pt x="0" y="15"/>
                  </a:cubicBezTo>
                  <a:cubicBezTo>
                    <a:pt x="0" y="11"/>
                    <a:pt x="2" y="7"/>
                    <a:pt x="5" y="4"/>
                  </a:cubicBezTo>
                  <a:cubicBezTo>
                    <a:pt x="8" y="1"/>
                    <a:pt x="12" y="0"/>
                    <a:pt x="16" y="0"/>
                  </a:cubicBezTo>
                  <a:cubicBezTo>
                    <a:pt x="20" y="0"/>
                    <a:pt x="24" y="1"/>
                    <a:pt x="27" y="4"/>
                  </a:cubicBezTo>
                  <a:cubicBezTo>
                    <a:pt x="33" y="10"/>
                    <a:pt x="33" y="20"/>
                    <a:pt x="27" y="26"/>
                  </a:cubicBezTo>
                  <a:cubicBezTo>
                    <a:pt x="24" y="29"/>
                    <a:pt x="20" y="31"/>
                    <a:pt x="16" y="31"/>
                  </a:cubicBezTo>
                  <a:close/>
                  <a:moveTo>
                    <a:pt x="16" y="4"/>
                  </a:moveTo>
                  <a:cubicBezTo>
                    <a:pt x="13" y="4"/>
                    <a:pt x="10" y="5"/>
                    <a:pt x="8" y="7"/>
                  </a:cubicBezTo>
                  <a:cubicBezTo>
                    <a:pt x="6" y="9"/>
                    <a:pt x="4" y="12"/>
                    <a:pt x="4" y="15"/>
                  </a:cubicBezTo>
                  <a:cubicBezTo>
                    <a:pt x="4" y="19"/>
                    <a:pt x="6" y="21"/>
                    <a:pt x="8" y="24"/>
                  </a:cubicBezTo>
                  <a:cubicBezTo>
                    <a:pt x="10" y="26"/>
                    <a:pt x="13" y="27"/>
                    <a:pt x="16" y="27"/>
                  </a:cubicBezTo>
                  <a:cubicBezTo>
                    <a:pt x="19" y="27"/>
                    <a:pt x="22" y="26"/>
                    <a:pt x="24" y="24"/>
                  </a:cubicBezTo>
                  <a:cubicBezTo>
                    <a:pt x="29" y="19"/>
                    <a:pt x="29" y="12"/>
                    <a:pt x="24" y="7"/>
                  </a:cubicBezTo>
                  <a:cubicBezTo>
                    <a:pt x="22" y="5"/>
                    <a:pt x="19" y="4"/>
                    <a:pt x="16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66" name="Freeform 57">
              <a:extLst>
                <a:ext uri="{FF2B5EF4-FFF2-40B4-BE49-F238E27FC236}">
                  <a16:creationId xmlns:a16="http://schemas.microsoft.com/office/drawing/2014/main" id="{FF4ACFBF-D1F2-47B1-B0EB-F08C6508BDC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04825" y="9525"/>
              <a:ext cx="233363" cy="5103813"/>
            </a:xfrm>
            <a:custGeom>
              <a:avLst/>
              <a:gdLst/>
              <a:ahLst/>
              <a:cxnLst/>
              <a:rect l="0" t="0" r="r" b="b"/>
              <a:pathLst>
                <a:path w="147" h="3215">
                  <a:moveTo>
                    <a:pt x="132" y="3215"/>
                  </a:moveTo>
                  <a:lnTo>
                    <a:pt x="129" y="2754"/>
                  </a:lnTo>
                  <a:lnTo>
                    <a:pt x="0" y="1901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898"/>
                  </a:lnTo>
                  <a:lnTo>
                    <a:pt x="144" y="2754"/>
                  </a:lnTo>
                  <a:lnTo>
                    <a:pt x="147" y="3215"/>
                  </a:lnTo>
                  <a:lnTo>
                    <a:pt x="132" y="321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67" name="Freeform 58">
              <a:extLst>
                <a:ext uri="{FF2B5EF4-FFF2-40B4-BE49-F238E27FC236}">
                  <a16:creationId xmlns:a16="http://schemas.microsoft.com/office/drawing/2014/main" id="{A6FD1991-3A0E-4F63-BAD9-A98C2986048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33413" y="5103813"/>
              <a:ext cx="185738" cy="185738"/>
            </a:xfrm>
            <a:custGeom>
              <a:avLst/>
              <a:gdLst/>
              <a:ahLst/>
              <a:cxnLst/>
              <a:rect l="0" t="0" r="r" b="b"/>
              <a:pathLst>
                <a:path w="39" h="39">
                  <a:moveTo>
                    <a:pt x="20" y="39"/>
                  </a:moveTo>
                  <a:cubicBezTo>
                    <a:pt x="9" y="39"/>
                    <a:pt x="0" y="30"/>
                    <a:pt x="0" y="19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0" y="0"/>
                    <a:pt x="39" y="9"/>
                    <a:pt x="39" y="19"/>
                  </a:cubicBezTo>
                  <a:cubicBezTo>
                    <a:pt x="39" y="30"/>
                    <a:pt x="30" y="39"/>
                    <a:pt x="20" y="39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19"/>
                  </a:cubicBezTo>
                  <a:cubicBezTo>
                    <a:pt x="4" y="28"/>
                    <a:pt x="11" y="35"/>
                    <a:pt x="20" y="35"/>
                  </a:cubicBezTo>
                  <a:cubicBezTo>
                    <a:pt x="28" y="35"/>
                    <a:pt x="35" y="28"/>
                    <a:pt x="35" y="19"/>
                  </a:cubicBezTo>
                  <a:cubicBezTo>
                    <a:pt x="35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B31724A-5701-72CE-3A14-D2891ADE742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962519" y="2249487"/>
            <a:ext cx="3084892" cy="3541714"/>
          </a:xfrm>
        </p:spPr>
        <p:txBody>
          <a:bodyPr>
            <a:normAutofit/>
          </a:bodyPr>
          <a:lstStyle/>
          <a:p>
            <a:r>
              <a:rPr lang="en-US" sz="1800" dirty="0"/>
              <a:t>Customizing reports</a:t>
            </a:r>
          </a:p>
          <a:p>
            <a:r>
              <a:rPr lang="en-US" sz="1800" dirty="0"/>
              <a:t>Integrating tables, figures, and text</a:t>
            </a:r>
          </a:p>
          <a:p>
            <a:r>
              <a:rPr lang="en-US" sz="1800" dirty="0"/>
              <a:t>Exploring color palettes</a:t>
            </a:r>
          </a:p>
          <a:p>
            <a:r>
              <a:rPr lang="en-US" sz="1800" dirty="0"/>
              <a:t>Introducing dynamic visualization approaches</a:t>
            </a:r>
          </a:p>
          <a:p>
            <a:r>
              <a:rPr lang="en-US" sz="1800" dirty="0"/>
              <a:t>Generating PDF and HTML outputs</a:t>
            </a:r>
          </a:p>
        </p:txBody>
      </p:sp>
      <p:pic>
        <p:nvPicPr>
          <p:cNvPr id="68" name="Picture 67">
            <a:extLst>
              <a:ext uri="{FF2B5EF4-FFF2-40B4-BE49-F238E27FC236}">
                <a16:creationId xmlns:a16="http://schemas.microsoft.com/office/drawing/2014/main" id="{F9A7EF83-68CB-0BFB-4477-58CBE73AA83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599286" y="5050971"/>
            <a:ext cx="1460500" cy="1676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2539429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594FD11-D31F-65E4-4DBC-8936CB7AB8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 Packages for dynamic Visualization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ECD46E8-D091-918A-F8F1-A5971DABF97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777421" y="2249487"/>
            <a:ext cx="6269990" cy="3541714"/>
          </a:xfrm>
        </p:spPr>
        <p:txBody>
          <a:bodyPr/>
          <a:lstStyle/>
          <a:p>
            <a:r>
              <a:rPr lang="en-US" dirty="0"/>
              <a:t>DT: Rendering R objects as HTML tables</a:t>
            </a:r>
          </a:p>
          <a:p>
            <a:r>
              <a:rPr lang="en-US" dirty="0" err="1"/>
              <a:t>Plotly</a:t>
            </a:r>
            <a:r>
              <a:rPr lang="en-US" dirty="0"/>
              <a:t>: Creating interactive web-based data visualization</a:t>
            </a:r>
          </a:p>
          <a:p>
            <a:r>
              <a:rPr lang="en-US" dirty="0" err="1"/>
              <a:t>gganimate</a:t>
            </a:r>
            <a:r>
              <a:rPr lang="en-US" dirty="0"/>
              <a:t>: Produce animated graphics (an extension of ggplot2)</a:t>
            </a:r>
          </a:p>
          <a:p>
            <a:r>
              <a:rPr lang="en-US" dirty="0"/>
              <a:t>Leaflet: Creating interactive web maps</a:t>
            </a:r>
          </a:p>
          <a:p>
            <a:endParaRPr lang="en-US" dirty="0"/>
          </a:p>
          <a:p>
            <a:endParaRPr lang="en-US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022E2967-ED8F-ABE9-B7AE-53EAB335C0E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55295" y="4274835"/>
            <a:ext cx="1536700" cy="1778000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61D80FC4-FE24-1A0C-B358-7A463544DBC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05260" y="2968095"/>
            <a:ext cx="2921000" cy="1143000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6E5D44FB-2600-88A9-71E1-BD9F737E177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9717" y="1694165"/>
            <a:ext cx="2601054" cy="130052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647744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97067B1-5F09-B411-75D8-CBEAE7DD442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Paramaterized</a:t>
            </a:r>
            <a:r>
              <a:rPr lang="en-US" dirty="0"/>
              <a:t> Reporting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9CCDF48-A92F-8859-39B8-78969513112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41412" y="2249487"/>
            <a:ext cx="5412743" cy="3541714"/>
          </a:xfrm>
        </p:spPr>
        <p:txBody>
          <a:bodyPr/>
          <a:lstStyle/>
          <a:p>
            <a:r>
              <a:rPr lang="en-US" dirty="0"/>
              <a:t>Dataset: </a:t>
            </a:r>
            <a:r>
              <a:rPr lang="en-US" dirty="0" err="1"/>
              <a:t>Feederwatch</a:t>
            </a:r>
            <a:endParaRPr lang="en-US" dirty="0"/>
          </a:p>
          <a:p>
            <a:r>
              <a:rPr lang="en-US" dirty="0"/>
              <a:t>Create template with integrated web-based graphics for data visualization</a:t>
            </a:r>
          </a:p>
          <a:p>
            <a:r>
              <a:rPr lang="en-US" dirty="0"/>
              <a:t>Generate reports for each state by </a:t>
            </a:r>
            <a:r>
              <a:rPr lang="en-US" dirty="0" err="1"/>
              <a:t>subsetting</a:t>
            </a:r>
            <a:r>
              <a:rPr lang="en-US" dirty="0"/>
              <a:t> the dataset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8E13209E-45C8-A656-1597-EE3E6C7DE3D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9344" y="5568950"/>
            <a:ext cx="2692400" cy="749300"/>
          </a:xfrm>
          <a:prstGeom prst="rect">
            <a:avLst/>
          </a:prstGeom>
        </p:spPr>
      </p:pic>
      <p:grpSp>
        <p:nvGrpSpPr>
          <p:cNvPr id="36" name="Group 35">
            <a:extLst>
              <a:ext uri="{FF2B5EF4-FFF2-40B4-BE49-F238E27FC236}">
                <a16:creationId xmlns:a16="http://schemas.microsoft.com/office/drawing/2014/main" id="{B3ED7946-A5FA-16F9-0884-FA68D6629CDF}"/>
              </a:ext>
            </a:extLst>
          </p:cNvPr>
          <p:cNvGrpSpPr/>
          <p:nvPr/>
        </p:nvGrpSpPr>
        <p:grpSpPr>
          <a:xfrm>
            <a:off x="7135181" y="1069484"/>
            <a:ext cx="4315292" cy="4874116"/>
            <a:chOff x="7271658" y="341194"/>
            <a:chExt cx="4315292" cy="4874116"/>
          </a:xfrm>
        </p:grpSpPr>
        <p:sp>
          <p:nvSpPr>
            <p:cNvPr id="16" name="Rounded Rectangle 15">
              <a:extLst>
                <a:ext uri="{FF2B5EF4-FFF2-40B4-BE49-F238E27FC236}">
                  <a16:creationId xmlns:a16="http://schemas.microsoft.com/office/drawing/2014/main" id="{471A3F97-F63D-574C-F1BF-D8E5B5A1F047}"/>
                </a:ext>
              </a:extLst>
            </p:cNvPr>
            <p:cNvSpPr/>
            <p:nvPr/>
          </p:nvSpPr>
          <p:spPr>
            <a:xfrm>
              <a:off x="7271658" y="341194"/>
              <a:ext cx="4315292" cy="4872631"/>
            </a:xfrm>
            <a:prstGeom prst="roundRect">
              <a:avLst/>
            </a:prstGeom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pic>
          <p:nvPicPr>
            <p:cNvPr id="6" name="Graphic 5" descr="Document with solid fill">
              <a:extLst>
                <a:ext uri="{FF2B5EF4-FFF2-40B4-BE49-F238E27FC236}">
                  <a16:creationId xmlns:a16="http://schemas.microsoft.com/office/drawing/2014/main" id="{AC3E66A8-4339-79F1-826B-8757C7672D12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7824132" y="3717688"/>
              <a:ext cx="914400" cy="914400"/>
            </a:xfrm>
            <a:prstGeom prst="rect">
              <a:avLst/>
            </a:prstGeom>
          </p:spPr>
        </p:pic>
        <p:pic>
          <p:nvPicPr>
            <p:cNvPr id="8" name="Graphic 7" descr="Paper with solid fill">
              <a:extLst>
                <a:ext uri="{FF2B5EF4-FFF2-40B4-BE49-F238E27FC236}">
                  <a16:creationId xmlns:a16="http://schemas.microsoft.com/office/drawing/2014/main" id="{A92DED05-76DD-3FCC-DFB1-61C192648148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p:blipFill>
          <p:spPr>
            <a:xfrm>
              <a:off x="8911767" y="1644175"/>
              <a:ext cx="914400" cy="914400"/>
            </a:xfrm>
            <a:prstGeom prst="rect">
              <a:avLst/>
            </a:prstGeom>
          </p:spPr>
        </p:pic>
        <p:pic>
          <p:nvPicPr>
            <p:cNvPr id="9" name="Graphic 8" descr="Document with solid fill">
              <a:extLst>
                <a:ext uri="{FF2B5EF4-FFF2-40B4-BE49-F238E27FC236}">
                  <a16:creationId xmlns:a16="http://schemas.microsoft.com/office/drawing/2014/main" id="{13AB59D8-A420-78FF-A485-F53A649A158D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8958866" y="3717688"/>
              <a:ext cx="914400" cy="914400"/>
            </a:xfrm>
            <a:prstGeom prst="rect">
              <a:avLst/>
            </a:prstGeom>
          </p:spPr>
        </p:pic>
        <p:pic>
          <p:nvPicPr>
            <p:cNvPr id="10" name="Graphic 9" descr="Document with solid fill">
              <a:extLst>
                <a:ext uri="{FF2B5EF4-FFF2-40B4-BE49-F238E27FC236}">
                  <a16:creationId xmlns:a16="http://schemas.microsoft.com/office/drawing/2014/main" id="{E6B49618-0154-2A1D-055D-B926C19D55B4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10133011" y="3717688"/>
              <a:ext cx="914400" cy="914400"/>
            </a:xfrm>
            <a:prstGeom prst="rect">
              <a:avLst/>
            </a:prstGeom>
          </p:spPr>
        </p:pic>
        <p:pic>
          <p:nvPicPr>
            <p:cNvPr id="15" name="Graphic 14" descr="Arrow Right with solid fill">
              <a:extLst>
                <a:ext uri="{FF2B5EF4-FFF2-40B4-BE49-F238E27FC236}">
                  <a16:creationId xmlns:a16="http://schemas.microsoft.com/office/drawing/2014/main" id="{75271F8E-B926-91E8-8A92-593FB4A74AE7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p:blipFill>
          <p:spPr>
            <a:xfrm rot="5400000">
              <a:off x="8770786" y="2742868"/>
              <a:ext cx="1114474" cy="745888"/>
            </a:xfrm>
            <a:prstGeom prst="rect">
              <a:avLst/>
            </a:prstGeom>
          </p:spPr>
        </p:pic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B13C8F09-EFC5-C132-EB79-0FB1A95886CA}"/>
                </a:ext>
              </a:extLst>
            </p:cNvPr>
            <p:cNvSpPr txBox="1"/>
            <p:nvPr/>
          </p:nvSpPr>
          <p:spPr>
            <a:xfrm>
              <a:off x="9076660" y="1977691"/>
              <a:ext cx="641522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 err="1">
                  <a:solidFill>
                    <a:schemeClr val="bg1"/>
                  </a:solidFill>
                </a:rPr>
                <a:t>Rmd</a:t>
              </a:r>
              <a:r>
                <a:rPr lang="en-US" b="1" dirty="0">
                  <a:solidFill>
                    <a:schemeClr val="bg1"/>
                  </a:solidFill>
                </a:rPr>
                <a:t> </a:t>
              </a:r>
            </a:p>
          </p:txBody>
        </p:sp>
        <p:pic>
          <p:nvPicPr>
            <p:cNvPr id="18" name="Graphic 17" descr="Arrow Right with solid fill">
              <a:extLst>
                <a:ext uri="{FF2B5EF4-FFF2-40B4-BE49-F238E27FC236}">
                  <a16:creationId xmlns:a16="http://schemas.microsoft.com/office/drawing/2014/main" id="{075F57B5-49D7-DF37-B430-59DD0F1FDAFE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rcRect l="41841"/>
            <a:stretch/>
          </p:blipFill>
          <p:spPr>
            <a:xfrm rot="5400000">
              <a:off x="7872880" y="2976020"/>
              <a:ext cx="648170" cy="745888"/>
            </a:xfrm>
            <a:prstGeom prst="rect">
              <a:avLst/>
            </a:prstGeom>
          </p:spPr>
        </p:pic>
        <p:pic>
          <p:nvPicPr>
            <p:cNvPr id="20" name="Graphic 19" descr="Arrow Right with solid fill">
              <a:extLst>
                <a:ext uri="{FF2B5EF4-FFF2-40B4-BE49-F238E27FC236}">
                  <a16:creationId xmlns:a16="http://schemas.microsoft.com/office/drawing/2014/main" id="{8DA4BBC8-4517-AEDE-EC78-2C9E92A797CE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rcRect l="41841"/>
            <a:stretch/>
          </p:blipFill>
          <p:spPr>
            <a:xfrm rot="5400000">
              <a:off x="10165980" y="2976020"/>
              <a:ext cx="648170" cy="745888"/>
            </a:xfrm>
            <a:prstGeom prst="rect">
              <a:avLst/>
            </a:prstGeom>
          </p:spPr>
        </p:pic>
        <p:sp>
          <p:nvSpPr>
            <p:cNvPr id="21" name="Rectangle 20">
              <a:extLst>
                <a:ext uri="{FF2B5EF4-FFF2-40B4-BE49-F238E27FC236}">
                  <a16:creationId xmlns:a16="http://schemas.microsoft.com/office/drawing/2014/main" id="{6E9CE79B-017E-2DB8-8342-9E19261E4743}"/>
                </a:ext>
              </a:extLst>
            </p:cNvPr>
            <p:cNvSpPr/>
            <p:nvPr/>
          </p:nvSpPr>
          <p:spPr>
            <a:xfrm>
              <a:off x="8199444" y="3024879"/>
              <a:ext cx="2308879" cy="45719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08E04CAC-998A-F7C5-9809-99A4D9EBF8A0}"/>
                </a:ext>
              </a:extLst>
            </p:cNvPr>
            <p:cNvSpPr txBox="1"/>
            <p:nvPr/>
          </p:nvSpPr>
          <p:spPr>
            <a:xfrm>
              <a:off x="9042698" y="4845978"/>
              <a:ext cx="975487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b="1" dirty="0">
                  <a:solidFill>
                    <a:schemeClr val="bg1"/>
                  </a:solidFill>
                </a:rPr>
                <a:t>Reports</a:t>
              </a:r>
            </a:p>
          </p:txBody>
        </p:sp>
        <p:sp>
          <p:nvSpPr>
            <p:cNvPr id="23" name="TextBox 22">
              <a:extLst>
                <a:ext uri="{FF2B5EF4-FFF2-40B4-BE49-F238E27FC236}">
                  <a16:creationId xmlns:a16="http://schemas.microsoft.com/office/drawing/2014/main" id="{79F15358-E0FA-862D-44A6-BA5660532893}"/>
                </a:ext>
              </a:extLst>
            </p:cNvPr>
            <p:cNvSpPr txBox="1"/>
            <p:nvPr/>
          </p:nvSpPr>
          <p:spPr>
            <a:xfrm>
              <a:off x="9963309" y="746196"/>
              <a:ext cx="1440779" cy="92333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b="1" dirty="0">
                  <a:solidFill>
                    <a:schemeClr val="bg1"/>
                  </a:solidFill>
                </a:rPr>
                <a:t>Input </a:t>
              </a:r>
            </a:p>
            <a:p>
              <a:r>
                <a:rPr lang="en-US" b="1" dirty="0">
                  <a:solidFill>
                    <a:schemeClr val="bg1"/>
                  </a:solidFill>
                </a:rPr>
                <a:t>Parameters</a:t>
              </a:r>
            </a:p>
            <a:p>
              <a:r>
                <a:rPr lang="en-US" dirty="0" err="1">
                  <a:solidFill>
                    <a:schemeClr val="bg1"/>
                  </a:solidFill>
                </a:rPr>
                <a:t>params$state</a:t>
              </a:r>
              <a:endParaRPr lang="en-US" dirty="0">
                <a:solidFill>
                  <a:schemeClr val="bg1"/>
                </a:solidFill>
              </a:endParaRPr>
            </a:p>
          </p:txBody>
        </p:sp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4A27003C-149D-3B88-52C5-1EA7117ABA48}"/>
                </a:ext>
              </a:extLst>
            </p:cNvPr>
            <p:cNvSpPr txBox="1"/>
            <p:nvPr/>
          </p:nvSpPr>
          <p:spPr>
            <a:xfrm>
              <a:off x="7892918" y="4551444"/>
              <a:ext cx="806204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solidFill>
                    <a:schemeClr val="bg1"/>
                  </a:solidFill>
                </a:rPr>
                <a:t>Maine</a:t>
              </a:r>
            </a:p>
          </p:txBody>
        </p:sp>
        <p:sp>
          <p:nvSpPr>
            <p:cNvPr id="25" name="TextBox 24">
              <a:extLst>
                <a:ext uri="{FF2B5EF4-FFF2-40B4-BE49-F238E27FC236}">
                  <a16:creationId xmlns:a16="http://schemas.microsoft.com/office/drawing/2014/main" id="{34CBA127-FF80-BC49-C2BA-C7DECA77F222}"/>
                </a:ext>
              </a:extLst>
            </p:cNvPr>
            <p:cNvSpPr txBox="1"/>
            <p:nvPr/>
          </p:nvSpPr>
          <p:spPr>
            <a:xfrm>
              <a:off x="9028437" y="4551257"/>
              <a:ext cx="914399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solidFill>
                    <a:schemeClr val="bg1"/>
                  </a:solidFill>
                </a:rPr>
                <a:t>Oregon</a:t>
              </a:r>
            </a:p>
          </p:txBody>
        </p:sp>
        <p:sp>
          <p:nvSpPr>
            <p:cNvPr id="26" name="TextBox 25">
              <a:extLst>
                <a:ext uri="{FF2B5EF4-FFF2-40B4-BE49-F238E27FC236}">
                  <a16:creationId xmlns:a16="http://schemas.microsoft.com/office/drawing/2014/main" id="{378BA709-F958-C575-1A02-82F3D60CA69F}"/>
                </a:ext>
              </a:extLst>
            </p:cNvPr>
            <p:cNvSpPr txBox="1"/>
            <p:nvPr/>
          </p:nvSpPr>
          <p:spPr>
            <a:xfrm>
              <a:off x="10228099" y="4551257"/>
              <a:ext cx="914399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solidFill>
                    <a:schemeClr val="bg1"/>
                  </a:solidFill>
                </a:rPr>
                <a:t>Florida</a:t>
              </a:r>
            </a:p>
          </p:txBody>
        </p:sp>
        <p:pic>
          <p:nvPicPr>
            <p:cNvPr id="29" name="Graphic 28" descr="Table with solid fill">
              <a:extLst>
                <a:ext uri="{FF2B5EF4-FFF2-40B4-BE49-F238E27FC236}">
                  <a16:creationId xmlns:a16="http://schemas.microsoft.com/office/drawing/2014/main" id="{64192759-D9E6-8BA4-25EE-E66F510CDBF7}"/>
                </a:ext>
              </a:extLst>
            </p:cNvPr>
            <p:cNvPicPr>
              <a:picLocks noChangeAspect="1"/>
            </p:cNvPicPr>
            <p:nvPr/>
          </p:nvPicPr>
          <p:blipFill>
            <a:blip r:embed="rId9">
              <a:extLst>
                <a:ext uri="{96DAC541-7B7A-43D3-8B79-37D633B846F1}">
                  <asvg:svgBlip xmlns:asvg="http://schemas.microsoft.com/office/drawing/2016/SVG/main" r:embed="rId10"/>
                </a:ext>
              </a:extLst>
            </a:blip>
            <a:stretch>
              <a:fillRect/>
            </a:stretch>
          </p:blipFill>
          <p:spPr>
            <a:xfrm>
              <a:off x="7696453" y="911509"/>
              <a:ext cx="914400" cy="914400"/>
            </a:xfrm>
            <a:prstGeom prst="rect">
              <a:avLst/>
            </a:prstGeom>
          </p:spPr>
        </p:pic>
        <p:sp>
          <p:nvSpPr>
            <p:cNvPr id="30" name="TextBox 29">
              <a:extLst>
                <a:ext uri="{FF2B5EF4-FFF2-40B4-BE49-F238E27FC236}">
                  <a16:creationId xmlns:a16="http://schemas.microsoft.com/office/drawing/2014/main" id="{547157EB-404A-2F35-736B-9A8B2B7E5BDF}"/>
                </a:ext>
              </a:extLst>
            </p:cNvPr>
            <p:cNvSpPr txBox="1"/>
            <p:nvPr/>
          </p:nvSpPr>
          <p:spPr>
            <a:xfrm>
              <a:off x="7428230" y="637012"/>
              <a:ext cx="118314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b="1" dirty="0">
                  <a:solidFill>
                    <a:schemeClr val="bg1"/>
                  </a:solidFill>
                </a:rPr>
                <a:t>Input Data</a:t>
              </a:r>
            </a:p>
          </p:txBody>
        </p:sp>
        <p:pic>
          <p:nvPicPr>
            <p:cNvPr id="33" name="Graphic 32" descr="Line arrow: Clockwise curve with solid fill">
              <a:extLst>
                <a:ext uri="{FF2B5EF4-FFF2-40B4-BE49-F238E27FC236}">
                  <a16:creationId xmlns:a16="http://schemas.microsoft.com/office/drawing/2014/main" id="{460687D8-975F-6EE2-B7B1-69DEE33598CE}"/>
                </a:ext>
              </a:extLst>
            </p:cNvPr>
            <p:cNvPicPr>
              <a:picLocks noChangeAspect="1"/>
            </p:cNvPicPr>
            <p:nvPr/>
          </p:nvPicPr>
          <p:blipFill>
            <a:blip r:embed="rId11">
              <a:extLst>
                <a:ext uri="{96DAC541-7B7A-43D3-8B79-37D633B846F1}">
                  <asvg:svgBlip xmlns:asvg="http://schemas.microsoft.com/office/drawing/2016/SVG/main" r:embed="rId12"/>
                </a:ext>
              </a:extLst>
            </a:blip>
            <a:stretch>
              <a:fillRect/>
            </a:stretch>
          </p:blipFill>
          <p:spPr>
            <a:xfrm rot="15930982">
              <a:off x="9837074" y="1633773"/>
              <a:ext cx="914400" cy="914400"/>
            </a:xfrm>
            <a:prstGeom prst="rect">
              <a:avLst/>
            </a:prstGeom>
          </p:spPr>
        </p:pic>
        <p:pic>
          <p:nvPicPr>
            <p:cNvPr id="35" name="Graphic 34" descr="Line arrow: Counter-clockwise curve with solid fill">
              <a:extLst>
                <a:ext uri="{FF2B5EF4-FFF2-40B4-BE49-F238E27FC236}">
                  <a16:creationId xmlns:a16="http://schemas.microsoft.com/office/drawing/2014/main" id="{0BC9A46F-99EC-0D56-E75E-4B238C3C5CC2}"/>
                </a:ext>
              </a:extLst>
            </p:cNvPr>
            <p:cNvPicPr>
              <a:picLocks noChangeAspect="1"/>
            </p:cNvPicPr>
            <p:nvPr/>
          </p:nvPicPr>
          <p:blipFill>
            <a:blip r:embed="rId13">
              <a:extLst>
                <a:ext uri="{96DAC541-7B7A-43D3-8B79-37D633B846F1}">
                  <asvg:svgBlip xmlns:asvg="http://schemas.microsoft.com/office/drawing/2016/SVG/main" r:embed="rId14"/>
                </a:ext>
              </a:extLst>
            </a:blip>
            <a:stretch>
              <a:fillRect/>
            </a:stretch>
          </p:blipFill>
          <p:spPr>
            <a:xfrm rot="7861308">
              <a:off x="8034935" y="1620244"/>
              <a:ext cx="914400" cy="914400"/>
            </a:xfrm>
            <a:prstGeom prst="rect">
              <a:avLst/>
            </a:prstGeom>
          </p:spPr>
        </p:pic>
        <p:sp>
          <p:nvSpPr>
            <p:cNvPr id="37" name="TextBox 36">
              <a:extLst>
                <a:ext uri="{FF2B5EF4-FFF2-40B4-BE49-F238E27FC236}">
                  <a16:creationId xmlns:a16="http://schemas.microsoft.com/office/drawing/2014/main" id="{38978700-A604-8CDA-DF8A-95CEC2F3566F}"/>
                </a:ext>
              </a:extLst>
            </p:cNvPr>
            <p:cNvSpPr txBox="1"/>
            <p:nvPr/>
          </p:nvSpPr>
          <p:spPr>
            <a:xfrm>
              <a:off x="8765213" y="1379306"/>
              <a:ext cx="1117807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b="1" dirty="0">
                  <a:solidFill>
                    <a:schemeClr val="bg1"/>
                  </a:solidFill>
                </a:rPr>
                <a:t>Template 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73208597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AE979501-A34F-2375-23E8-7CDF7556E480}"/>
              </a:ext>
            </a:extLst>
          </p:cNvPr>
          <p:cNvSpPr/>
          <p:nvPr/>
        </p:nvSpPr>
        <p:spPr>
          <a:xfrm>
            <a:off x="9015411" y="459146"/>
            <a:ext cx="2032000" cy="482600"/>
          </a:xfrm>
          <a:prstGeom prst="round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ED40D23-E903-B8A2-01A7-E0600B7C224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Other tools &amp; Hosting Platforms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4592A59-B577-63F3-882D-9699E4C3A49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41412" y="1988225"/>
            <a:ext cx="9905999" cy="4110370"/>
          </a:xfrm>
        </p:spPr>
        <p:txBody>
          <a:bodyPr>
            <a:normAutofit/>
          </a:bodyPr>
          <a:lstStyle/>
          <a:p>
            <a:r>
              <a:rPr lang="en-US" dirty="0"/>
              <a:t>Quarto (</a:t>
            </a:r>
            <a:r>
              <a:rPr lang="en-US" dirty="0" err="1"/>
              <a:t>Qmd</a:t>
            </a:r>
            <a:r>
              <a:rPr lang="en-US" dirty="0"/>
              <a:t>): A notebook interface for technical publishing of reports, websites, blogs, books, slides, etc. (created to expand the scope of </a:t>
            </a:r>
            <a:r>
              <a:rPr lang="en-US" dirty="0" err="1"/>
              <a:t>Rmarkdown</a:t>
            </a:r>
            <a:r>
              <a:rPr lang="en-US" dirty="0"/>
              <a:t>)</a:t>
            </a:r>
          </a:p>
          <a:p>
            <a:r>
              <a:rPr lang="en-US" dirty="0" err="1"/>
              <a:t>Bookdown</a:t>
            </a:r>
            <a:r>
              <a:rPr lang="en-US" dirty="0"/>
              <a:t>: for books and long-form articles/reports (https://</a:t>
            </a:r>
            <a:r>
              <a:rPr lang="en-US" dirty="0" err="1"/>
              <a:t>bookdown.org</a:t>
            </a:r>
            <a:r>
              <a:rPr lang="en-US" dirty="0"/>
              <a:t>/)</a:t>
            </a:r>
          </a:p>
          <a:p>
            <a:r>
              <a:rPr lang="en-US" dirty="0"/>
              <a:t>GitHub Pages: host a website directly from a GitHub repository</a:t>
            </a:r>
          </a:p>
          <a:p>
            <a:r>
              <a:rPr lang="en-US" dirty="0" err="1"/>
              <a:t>Rpubs</a:t>
            </a:r>
            <a:r>
              <a:rPr lang="en-US" dirty="0"/>
              <a:t>: free service for hosting </a:t>
            </a:r>
            <a:r>
              <a:rPr lang="en-US" dirty="0" err="1"/>
              <a:t>Rmarkdown</a:t>
            </a:r>
            <a:r>
              <a:rPr lang="en-US" dirty="0"/>
              <a:t> documents</a:t>
            </a:r>
          </a:p>
          <a:p>
            <a:r>
              <a:rPr lang="en-US" dirty="0"/>
              <a:t>Others: Posit Connect, Netlify, Quarto Pub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102F872A-D7E5-2A4A-6ABA-6838CF9CE5A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15411" y="459146"/>
            <a:ext cx="2032000" cy="482600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62D9C8E7-5950-9319-1166-FB093BDBCA4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678885" y="1907091"/>
            <a:ext cx="1132169" cy="130199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36749790"/>
      </p:ext>
    </p:extLst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Circuit">
  <a:themeElements>
    <a:clrScheme name="Circuit">
      <a:dk1>
        <a:sysClr val="windowText" lastClr="000000"/>
      </a:dk1>
      <a:lt1>
        <a:sysClr val="window" lastClr="FFFFFF"/>
      </a:lt1>
      <a:dk2>
        <a:srgbClr val="134770"/>
      </a:dk2>
      <a:lt2>
        <a:srgbClr val="82FFFF"/>
      </a:lt2>
      <a:accent1>
        <a:srgbClr val="9ACD4C"/>
      </a:accent1>
      <a:accent2>
        <a:srgbClr val="FAA93A"/>
      </a:accent2>
      <a:accent3>
        <a:srgbClr val="D35940"/>
      </a:accent3>
      <a:accent4>
        <a:srgbClr val="B258D3"/>
      </a:accent4>
      <a:accent5>
        <a:srgbClr val="63A0CC"/>
      </a:accent5>
      <a:accent6>
        <a:srgbClr val="8AC4A7"/>
      </a:accent6>
      <a:hlink>
        <a:srgbClr val="B8FA56"/>
      </a:hlink>
      <a:folHlink>
        <a:srgbClr val="7AF8CC"/>
      </a:folHlink>
    </a:clrScheme>
    <a:fontScheme name="Circuit">
      <a:majorFont>
        <a:latin typeface="Tw Cen MT" panose="020B0602020104020603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Tw Cen MT" panose="020B0602020104020603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Circuit">
      <a:fillStyleLst>
        <a:solidFill>
          <a:schemeClr val="phClr"/>
        </a:solidFill>
        <a:gradFill rotWithShape="1">
          <a:gsLst>
            <a:gs pos="0">
              <a:schemeClr val="phClr">
                <a:tint val="58000"/>
                <a:satMod val="108000"/>
                <a:lumMod val="110000"/>
              </a:schemeClr>
            </a:gs>
            <a:gs pos="100000">
              <a:schemeClr val="phClr">
                <a:tint val="81000"/>
                <a:satMod val="109000"/>
                <a:lumMod val="105000"/>
              </a:schemeClr>
            </a:gs>
          </a:gsLst>
          <a:lin ang="5040000" scaled="0"/>
        </a:gradFill>
        <a:gradFill rotWithShape="1">
          <a:gsLst>
            <a:gs pos="0">
              <a:schemeClr val="phClr">
                <a:tint val="94000"/>
                <a:satMod val="105000"/>
                <a:lumMod val="102000"/>
              </a:schemeClr>
            </a:gs>
            <a:gs pos="100000">
              <a:schemeClr val="phClr">
                <a:shade val="74000"/>
                <a:satMod val="128000"/>
                <a:lumMod val="100000"/>
              </a:schemeClr>
            </a:gs>
          </a:gsLst>
          <a:lin ang="5400000" scaled="0"/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2225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8000"/>
                <a:hueMod val="94000"/>
                <a:satMod val="148000"/>
                <a:lumMod val="150000"/>
              </a:schemeClr>
            </a:gs>
            <a:gs pos="100000">
              <a:schemeClr val="phClr">
                <a:shade val="92000"/>
                <a:hueMod val="104000"/>
                <a:satMod val="140000"/>
                <a:lumMod val="68000"/>
              </a:schemeClr>
            </a:gs>
          </a:gsLst>
          <a:lin ang="5040000" scaled="0"/>
        </a:gradFill>
        <a:blipFill>
          <a:blip xmlns:r="http://schemas.openxmlformats.org/officeDocument/2006/relationships" r:embed="rId1">
            <a:duotone>
              <a:schemeClr val="phClr">
                <a:shade val="88000"/>
                <a:hueMod val="106000"/>
                <a:satMod val="140000"/>
                <a:lumMod val="54000"/>
              </a:schemeClr>
              <a:schemeClr val="phClr">
                <a:tint val="98000"/>
                <a:hueMod val="90000"/>
                <a:satMod val="150000"/>
                <a:lumMod val="160000"/>
              </a:schemeClr>
            </a:duotone>
          </a:blip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Circuit" id="{0AC2F7E7-15F5-431C-B2A2-456FE929F56C}" vid="{0911B802-464C-4241-8DD9-B60FF88E379F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Circuit</Template>
  <TotalTime>1998</TotalTime>
  <Words>360</Words>
  <Application>Microsoft Macintosh PowerPoint</Application>
  <PresentationFormat>Widescreen</PresentationFormat>
  <Paragraphs>51</Paragraphs>
  <Slides>8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Tw Cen MT</vt:lpstr>
      <vt:lpstr>Circuit</vt:lpstr>
      <vt:lpstr>Data Visualization and Reports with Rmarkdown</vt:lpstr>
      <vt:lpstr>Science is for sharing!</vt:lpstr>
      <vt:lpstr>Rmarkdown</vt:lpstr>
      <vt:lpstr>What is Rmarkdown good for?</vt:lpstr>
      <vt:lpstr>RMArkdown with Palmer Penguins</vt:lpstr>
      <vt:lpstr>R Packages for dynamic Visualization</vt:lpstr>
      <vt:lpstr>Paramaterized Reporting</vt:lpstr>
      <vt:lpstr>Other tools &amp; Hosting Platforms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Wolfe, Jaxine</dc:creator>
  <cp:lastModifiedBy>Wolfe, Jaxine</cp:lastModifiedBy>
  <cp:revision>10</cp:revision>
  <dcterms:created xsi:type="dcterms:W3CDTF">2025-08-17T23:57:56Z</dcterms:created>
  <dcterms:modified xsi:type="dcterms:W3CDTF">2025-08-19T18:51:39Z</dcterms:modified>
</cp:coreProperties>
</file>